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"/>
  </p:notesMasterIdLst>
  <p:sldIdLst>
    <p:sldId id="419" r:id="rId2"/>
    <p:sldId id="420" r:id="rId3"/>
    <p:sldId id="418" r:id="rId4"/>
  </p:sldIdLst>
  <p:sldSz cx="215995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1D5"/>
    <a:srgbClr val="00B050"/>
    <a:srgbClr val="F2F2F2"/>
    <a:srgbClr val="FFFFFF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09" autoAdjust="0"/>
    <p:restoredTop sz="96229" autoAdjust="0"/>
  </p:normalViewPr>
  <p:slideViewPr>
    <p:cSldViewPr snapToGrid="0">
      <p:cViewPr>
        <p:scale>
          <a:sx n="50" d="100"/>
          <a:sy n="50" d="100"/>
        </p:scale>
        <p:origin x="23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7A13E-14C7-4E6A-875A-08DAB5B28782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AD975-3019-46FA-809D-B564FF48D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49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2356703"/>
            <a:ext cx="1835959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7563446"/>
            <a:ext cx="16199644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60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72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3590057"/>
            <a:ext cx="1862959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9636813"/>
            <a:ext cx="1862959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/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9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2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766681"/>
            <a:ext cx="1862959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3530053"/>
            <a:ext cx="9137610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5260078"/>
            <a:ext cx="9137610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3530053"/>
            <a:ext cx="9182611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5260078"/>
            <a:ext cx="918261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57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80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2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2073367"/>
            <a:ext cx="10934760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12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2073367"/>
            <a:ext cx="10934760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9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27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766678"/>
            <a:ext cx="4657398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766678"/>
            <a:ext cx="13702199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12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766681"/>
            <a:ext cx="186295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833390"/>
            <a:ext cx="186295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10D2-B1E0-4921-B9F7-8F510582B9B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3346867"/>
            <a:ext cx="728984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653FD-579A-4D52-B2E0-7B53AE547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4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9DA8B2-F091-4FE8-EFEE-14E9FACF2AAD}"/>
              </a:ext>
            </a:extLst>
          </p:cNvPr>
          <p:cNvSpPr/>
          <p:nvPr/>
        </p:nvSpPr>
        <p:spPr>
          <a:xfrm>
            <a:off x="5050974" y="7705193"/>
            <a:ext cx="13405228" cy="1466033"/>
          </a:xfrm>
          <a:prstGeom prst="rect">
            <a:avLst/>
          </a:prstGeom>
          <a:solidFill>
            <a:srgbClr val="FFC000">
              <a:lumMod val="60000"/>
              <a:lumOff val="40000"/>
            </a:srgbClr>
          </a:solidFill>
          <a:ln w="25400"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auto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E8150C-384C-FC5B-10C9-C5294E27A207}"/>
              </a:ext>
            </a:extLst>
          </p:cNvPr>
          <p:cNvSpPr/>
          <p:nvPr/>
        </p:nvSpPr>
        <p:spPr>
          <a:xfrm>
            <a:off x="17061535" y="7714203"/>
            <a:ext cx="1384493" cy="1436457"/>
          </a:xfrm>
          <a:prstGeom prst="rect">
            <a:avLst/>
          </a:prstGeom>
          <a:solidFill>
            <a:srgbClr val="ED7D31">
              <a:lumMod val="40000"/>
              <a:lumOff val="60000"/>
            </a:srgbClr>
          </a:solidFill>
          <a:ln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1898B3-40BF-049E-E085-D8D0B3140B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190" y="3779749"/>
            <a:ext cx="3704397" cy="4108315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BAE7FDC-27DE-A12D-6097-B5DB22B65349}"/>
              </a:ext>
            </a:extLst>
          </p:cNvPr>
          <p:cNvCxnSpPr>
            <a:cxnSpLocks/>
          </p:cNvCxnSpPr>
          <p:nvPr/>
        </p:nvCxnSpPr>
        <p:spPr>
          <a:xfrm flipV="1">
            <a:off x="5071375" y="7993634"/>
            <a:ext cx="13356000" cy="16240"/>
          </a:xfrm>
          <a:prstGeom prst="line">
            <a:avLst/>
          </a:prstGeom>
          <a:ln w="34925" cmpd="sng">
            <a:solidFill>
              <a:sysClr val="window" lastClr="FFFFFF">
                <a:lumMod val="50000"/>
              </a:sysClr>
            </a:solidFill>
            <a:prstDash val="sysDot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E5D0CCE-E7AA-126F-A083-14279BDE60B5}"/>
              </a:ext>
            </a:extLst>
          </p:cNvPr>
          <p:cNvSpPr/>
          <p:nvPr/>
        </p:nvSpPr>
        <p:spPr>
          <a:xfrm flipV="1">
            <a:off x="5063966" y="8931744"/>
            <a:ext cx="11988000" cy="210175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12700" cmpd="sng">
            <a:noFill/>
            <a:prstDash val="sysDash"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auto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12" name="流程图: 合并 11">
            <a:extLst>
              <a:ext uri="{FF2B5EF4-FFF2-40B4-BE49-F238E27FC236}">
                <a16:creationId xmlns:a16="http://schemas.microsoft.com/office/drawing/2014/main" id="{7EEB3734-7B90-3C66-74AA-0EBEA4AC33CB}"/>
              </a:ext>
            </a:extLst>
          </p:cNvPr>
          <p:cNvSpPr/>
          <p:nvPr/>
        </p:nvSpPr>
        <p:spPr>
          <a:xfrm>
            <a:off x="5147098" y="8821419"/>
            <a:ext cx="135492" cy="97988"/>
          </a:xfrm>
          <a:prstGeom prst="flowChartMerge">
            <a:avLst/>
          </a:prstGeom>
          <a:solidFill>
            <a:srgbClr val="1D41D5"/>
          </a:solidFill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auto"/>
            <a:endParaRPr lang="zh-CN" altLang="en-US" sz="1399" noProof="1">
              <a:cs typeface="Calibri" panose="020F0502020204030204" pitchFamily="34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7A59160-EF5C-FF62-4003-CD315E5E3796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5050974" y="8438210"/>
            <a:ext cx="10696356" cy="1125"/>
          </a:xfrm>
          <a:prstGeom prst="line">
            <a:avLst/>
          </a:prstGeom>
          <a:ln w="34925" cmpd="sng">
            <a:solidFill>
              <a:sysClr val="window" lastClr="FFFFFF">
                <a:lumMod val="50000"/>
              </a:sysClr>
            </a:solidFill>
            <a:prstDash val="sysDot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394E049-A29F-E582-9F53-7F8134ECF601}"/>
              </a:ext>
            </a:extLst>
          </p:cNvPr>
          <p:cNvCxnSpPr/>
          <p:nvPr/>
        </p:nvCxnSpPr>
        <p:spPr>
          <a:xfrm>
            <a:off x="15776358" y="7721954"/>
            <a:ext cx="0" cy="1428700"/>
          </a:xfrm>
          <a:prstGeom prst="line">
            <a:avLst/>
          </a:prstGeom>
          <a:ln w="19050">
            <a:solidFill>
              <a:sysClr val="windowText" lastClr="000000"/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823D6F6-DC9A-7D7D-F4A6-84C7377772EC}"/>
              </a:ext>
            </a:extLst>
          </p:cNvPr>
          <p:cNvSpPr/>
          <p:nvPr/>
        </p:nvSpPr>
        <p:spPr>
          <a:xfrm>
            <a:off x="14231498" y="7714697"/>
            <a:ext cx="1554543" cy="1444426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16" name="文本框 122">
            <a:extLst>
              <a:ext uri="{FF2B5EF4-FFF2-40B4-BE49-F238E27FC236}">
                <a16:creationId xmlns:a16="http://schemas.microsoft.com/office/drawing/2014/main" id="{8FDE5351-72C5-32B6-BFFE-46496165540E}"/>
              </a:ext>
            </a:extLst>
          </p:cNvPr>
          <p:cNvSpPr txBox="1"/>
          <p:nvPr/>
        </p:nvSpPr>
        <p:spPr>
          <a:xfrm>
            <a:off x="12613444" y="7728454"/>
            <a:ext cx="11699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Ponding</a:t>
            </a:r>
          </a:p>
          <a:p>
            <a:pPr algn="ctr"/>
            <a:r>
              <a:rPr lang="zh-CN" altLang="en-US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（</a:t>
            </a:r>
            <a:r>
              <a:rPr lang="en-US" altLang="zh-CN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Paddy</a:t>
            </a:r>
            <a:r>
              <a:rPr lang="zh-CN" altLang="en-US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）</a:t>
            </a:r>
          </a:p>
        </p:txBody>
      </p:sp>
      <p:sp>
        <p:nvSpPr>
          <p:cNvPr id="17" name="文本框 25">
            <a:extLst>
              <a:ext uri="{FF2B5EF4-FFF2-40B4-BE49-F238E27FC236}">
                <a16:creationId xmlns:a16="http://schemas.microsoft.com/office/drawing/2014/main" id="{9E455BF9-4CBF-0222-BF46-47AA2D57FD2E}"/>
              </a:ext>
            </a:extLst>
          </p:cNvPr>
          <p:cNvSpPr txBox="1"/>
          <p:nvPr/>
        </p:nvSpPr>
        <p:spPr>
          <a:xfrm>
            <a:off x="8707263" y="3051269"/>
            <a:ext cx="14762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Vegetation 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Reflection</a:t>
            </a:r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&amp;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Absorption</a:t>
            </a:r>
            <a:endParaRPr lang="zh-CN" altLang="en-US" sz="1200" b="1" dirty="0">
              <a:solidFill>
                <a:srgbClr val="CB8611"/>
              </a:solidFill>
              <a:cs typeface="Calibri" panose="020F050202020403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9562DDB-22BE-8CF9-F741-925F2E727141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15812345" y="8432427"/>
            <a:ext cx="2633680" cy="13434"/>
          </a:xfrm>
          <a:prstGeom prst="line">
            <a:avLst/>
          </a:prstGeom>
          <a:ln w="34925" cmpd="sng">
            <a:solidFill>
              <a:sysClr val="window" lastClr="FFFFFF">
                <a:lumMod val="50000"/>
              </a:sysClr>
            </a:solidFill>
            <a:prstDash val="sysDot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262BF6-8459-2A1E-C06E-5817DB409C16}"/>
              </a:ext>
            </a:extLst>
          </p:cNvPr>
          <p:cNvGrpSpPr/>
          <p:nvPr/>
        </p:nvGrpSpPr>
        <p:grpSpPr>
          <a:xfrm>
            <a:off x="11757947" y="3149292"/>
            <a:ext cx="1571947" cy="1171817"/>
            <a:chOff x="12963317" y="106255"/>
            <a:chExt cx="1571947" cy="1171817"/>
          </a:xfrm>
        </p:grpSpPr>
        <p:sp>
          <p:nvSpPr>
            <p:cNvPr id="22" name="文本框 156">
              <a:extLst>
                <a:ext uri="{FF2B5EF4-FFF2-40B4-BE49-F238E27FC236}">
                  <a16:creationId xmlns:a16="http://schemas.microsoft.com/office/drawing/2014/main" id="{319CAE30-2164-DAC4-487B-1A91E1A87D4F}"/>
                </a:ext>
              </a:extLst>
            </p:cNvPr>
            <p:cNvSpPr txBox="1"/>
            <p:nvPr/>
          </p:nvSpPr>
          <p:spPr>
            <a:xfrm>
              <a:off x="12963317" y="674941"/>
              <a:ext cx="1571947" cy="3076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lvl="1" algn="ctr"/>
              <a:r>
                <a:rPr lang="en" altLang="zh-CN" sz="1399" b="1" dirty="0">
                  <a:solidFill>
                    <a:srgbClr val="CB8611"/>
                  </a:solidFill>
                  <a:ea typeface="微软雅黑" panose="020B0503020204020204" pitchFamily="34" charset="-122"/>
                  <a:cs typeface="Calibri" panose="020F0502020204030204" pitchFamily="34" charset="0"/>
                </a:rPr>
                <a:t>Solar Radiation</a:t>
              </a:r>
              <a:endParaRPr lang="zh-CN" altLang="en-US" sz="1399" b="1" dirty="0">
                <a:solidFill>
                  <a:srgbClr val="CB8611"/>
                </a:solidFill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23" name="图片 200" descr="C:/Users/jpeng/AppData/Local/Temp/kaimatting/20200609171621/output_aiMatting_20200609171627.pngoutput_aiMatting_20200609171627">
              <a:extLst>
                <a:ext uri="{FF2B5EF4-FFF2-40B4-BE49-F238E27FC236}">
                  <a16:creationId xmlns:a16="http://schemas.microsoft.com/office/drawing/2014/main" id="{C84FFAEF-9286-AAD5-8BCC-FE9B1AC05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9AD0EA"/>
                </a:clrFrom>
                <a:clrTo>
                  <a:srgbClr val="9AD0EA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50531" y="106255"/>
              <a:ext cx="594707" cy="60874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2C7B64E-DADA-5A19-5E63-D768ACE05E67}"/>
                </a:ext>
              </a:extLst>
            </p:cNvPr>
            <p:cNvCxnSpPr/>
            <p:nvPr/>
          </p:nvCxnSpPr>
          <p:spPr>
            <a:xfrm flipH="1" flipV="1">
              <a:off x="13380367" y="973219"/>
              <a:ext cx="5323" cy="290821"/>
            </a:xfrm>
            <a:prstGeom prst="straightConnector1">
              <a:avLst/>
            </a:prstGeom>
            <a:ln w="34925">
              <a:solidFill>
                <a:srgbClr val="CB861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37FBF2F-E181-E053-9E0E-E1797A271A05}"/>
                </a:ext>
              </a:extLst>
            </p:cNvPr>
            <p:cNvCxnSpPr/>
            <p:nvPr/>
          </p:nvCxnSpPr>
          <p:spPr>
            <a:xfrm flipH="1" flipV="1">
              <a:off x="13747885" y="973219"/>
              <a:ext cx="6049" cy="291547"/>
            </a:xfrm>
            <a:prstGeom prst="straightConnector1">
              <a:avLst/>
            </a:prstGeom>
            <a:ln w="34925">
              <a:solidFill>
                <a:srgbClr val="CB861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6A95FA3-82A6-04F2-10B2-32B4919AD910}"/>
                </a:ext>
              </a:extLst>
            </p:cNvPr>
            <p:cNvCxnSpPr/>
            <p:nvPr/>
          </p:nvCxnSpPr>
          <p:spPr>
            <a:xfrm flipH="1" flipV="1">
              <a:off x="14104758" y="987735"/>
              <a:ext cx="6049" cy="290337"/>
            </a:xfrm>
            <a:prstGeom prst="straightConnector1">
              <a:avLst/>
            </a:prstGeom>
            <a:ln w="34925">
              <a:solidFill>
                <a:srgbClr val="CB861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44A4B39-772C-7557-7D0F-70AB21F0A30D}"/>
              </a:ext>
            </a:extLst>
          </p:cNvPr>
          <p:cNvCxnSpPr>
            <a:cxnSpLocks/>
          </p:cNvCxnSpPr>
          <p:nvPr/>
        </p:nvCxnSpPr>
        <p:spPr>
          <a:xfrm>
            <a:off x="9567313" y="3733171"/>
            <a:ext cx="1210" cy="395583"/>
          </a:xfrm>
          <a:prstGeom prst="straightConnector1">
            <a:avLst/>
          </a:prstGeom>
          <a:ln w="41275">
            <a:solidFill>
              <a:srgbClr val="CB861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7CBEF6D-B1FC-ABFC-7D06-586CBE97D0E8}"/>
              </a:ext>
            </a:extLst>
          </p:cNvPr>
          <p:cNvCxnSpPr>
            <a:cxnSpLocks/>
          </p:cNvCxnSpPr>
          <p:nvPr/>
        </p:nvCxnSpPr>
        <p:spPr>
          <a:xfrm flipH="1" flipV="1">
            <a:off x="9105087" y="3775137"/>
            <a:ext cx="467309" cy="377860"/>
          </a:xfrm>
          <a:prstGeom prst="straightConnector1">
            <a:avLst/>
          </a:prstGeom>
          <a:ln w="41275">
            <a:solidFill>
              <a:srgbClr val="CB86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http://photo-static-api.fotomore.com/creative/vcg/400/new/VCG41N871676638.jpg" descr="templates\picture_hover\&amp;pky250_sjzg_VCG41N871676638&amp;">
            <a:extLst>
              <a:ext uri="{FF2B5EF4-FFF2-40B4-BE49-F238E27FC236}">
                <a16:creationId xmlns:a16="http://schemas.microsoft.com/office/drawing/2014/main" id="{7F7F51A8-82FB-94EB-8B76-793DCA3AF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75" t="14404" r="7917" b="8149"/>
          <a:stretch>
            <a:fillRect/>
          </a:stretch>
        </p:blipFill>
        <p:spPr>
          <a:xfrm>
            <a:off x="14554243" y="8561998"/>
            <a:ext cx="947950" cy="928110"/>
          </a:xfrm>
          <a:prstGeom prst="ellipse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18294E7-6B00-AE84-D4D5-1F18834FFD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4849" y="7631891"/>
            <a:ext cx="399942" cy="44011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E9BF223-8646-D256-1F12-D9E040F6FC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358" y="7218557"/>
            <a:ext cx="570281" cy="518615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48A3B4A-3822-DB65-237B-A01E9E6F0B4A}"/>
              </a:ext>
            </a:extLst>
          </p:cNvPr>
          <p:cNvGrpSpPr/>
          <p:nvPr/>
        </p:nvGrpSpPr>
        <p:grpSpPr>
          <a:xfrm>
            <a:off x="11761056" y="7405147"/>
            <a:ext cx="201623" cy="1556368"/>
            <a:chOff x="10708740" y="1436624"/>
            <a:chExt cx="198000" cy="1074751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3" name="圆柱体 32">
              <a:extLst>
                <a:ext uri="{FF2B5EF4-FFF2-40B4-BE49-F238E27FC236}">
                  <a16:creationId xmlns:a16="http://schemas.microsoft.com/office/drawing/2014/main" id="{09D1C317-2BD3-519B-8D38-84524CCB6503}"/>
                </a:ext>
              </a:extLst>
            </p:cNvPr>
            <p:cNvSpPr/>
            <p:nvPr/>
          </p:nvSpPr>
          <p:spPr>
            <a:xfrm>
              <a:off x="10735459" y="1575374"/>
              <a:ext cx="144000" cy="936001"/>
            </a:xfrm>
            <a:prstGeom prst="can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99">
                <a:cs typeface="Calibri" panose="020F0502020204030204" pitchFamily="34" charset="0"/>
              </a:endParaRPr>
            </a:p>
          </p:txBody>
        </p:sp>
        <p:sp>
          <p:nvSpPr>
            <p:cNvPr id="34" name="圆柱体 33">
              <a:extLst>
                <a:ext uri="{FF2B5EF4-FFF2-40B4-BE49-F238E27FC236}">
                  <a16:creationId xmlns:a16="http://schemas.microsoft.com/office/drawing/2014/main" id="{3FCBE486-9140-471C-DD96-F3E72E8D03DB}"/>
                </a:ext>
              </a:extLst>
            </p:cNvPr>
            <p:cNvSpPr/>
            <p:nvPr/>
          </p:nvSpPr>
          <p:spPr>
            <a:xfrm>
              <a:off x="10708740" y="1436624"/>
              <a:ext cx="198000" cy="251449"/>
            </a:xfrm>
            <a:prstGeom prst="can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99">
                <a:cs typeface="Calibri" panose="020F0502020204030204" pitchFamily="34" charset="0"/>
              </a:endParaRPr>
            </a:p>
          </p:txBody>
        </p:sp>
      </p:grpSp>
      <p:pic>
        <p:nvPicPr>
          <p:cNvPr id="35" name="图片 13">
            <a:extLst>
              <a:ext uri="{FF2B5EF4-FFF2-40B4-BE49-F238E27FC236}">
                <a16:creationId xmlns:a16="http://schemas.microsoft.com/office/drawing/2014/main" id="{CF87D564-EEE3-E39D-C232-DFE0C6C49466}"/>
              </a:ext>
            </a:extLst>
          </p:cNvPr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59952" y="7459321"/>
            <a:ext cx="274334" cy="27433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文本框 197">
            <a:extLst>
              <a:ext uri="{FF2B5EF4-FFF2-40B4-BE49-F238E27FC236}">
                <a16:creationId xmlns:a16="http://schemas.microsoft.com/office/drawing/2014/main" id="{18EECD8D-4153-9B05-A139-1A5B5540D5D5}"/>
              </a:ext>
            </a:extLst>
          </p:cNvPr>
          <p:cNvSpPr txBox="1"/>
          <p:nvPr/>
        </p:nvSpPr>
        <p:spPr>
          <a:xfrm>
            <a:off x="16221619" y="9464697"/>
            <a:ext cx="1970817" cy="307648"/>
          </a:xfrm>
          <a:prstGeom prst="rect">
            <a:avLst/>
          </a:prstGeom>
          <a:solidFill>
            <a:sysClr val="window" lastClr="FFFFFF"/>
          </a:solidFill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404040"/>
                </a:solidFill>
                <a:cs typeface="Calibri" panose="020F0502020204030204" pitchFamily="34" charset="0"/>
              </a:rPr>
              <a:t>Urban</a:t>
            </a:r>
            <a:r>
              <a:rPr lang="zh-CN" altLang="en-US" sz="1399" b="1" dirty="0">
                <a:solidFill>
                  <a:srgbClr val="404040"/>
                </a:solidFill>
                <a:cs typeface="Calibri" panose="020F0502020204030204" pitchFamily="34" charset="0"/>
              </a:rPr>
              <a:t> </a:t>
            </a:r>
            <a:r>
              <a:rPr lang="en" altLang="zh-CN" sz="1399" b="1" dirty="0">
                <a:solidFill>
                  <a:srgbClr val="404040"/>
                </a:solidFill>
                <a:cs typeface="Calibri" panose="020F0502020204030204" pitchFamily="34" charset="0"/>
              </a:rPr>
              <a:t>Land Cover</a:t>
            </a:r>
            <a:endParaRPr lang="zh-CN" altLang="en-US" sz="1399" b="1" dirty="0"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37" name="直接箭头连接符 89">
            <a:extLst>
              <a:ext uri="{FF2B5EF4-FFF2-40B4-BE49-F238E27FC236}">
                <a16:creationId xmlns:a16="http://schemas.microsoft.com/office/drawing/2014/main" id="{BB6C6D09-ECDD-3517-3F5A-41F0E6FE3C3C}"/>
              </a:ext>
            </a:extLst>
          </p:cNvPr>
          <p:cNvCxnSpPr>
            <a:cxnSpLocks/>
            <a:stCxn id="40" idx="0"/>
            <a:endCxn id="38" idx="2"/>
          </p:cNvCxnSpPr>
          <p:nvPr/>
        </p:nvCxnSpPr>
        <p:spPr bwMode="auto">
          <a:xfrm flipV="1">
            <a:off x="6306505" y="6687370"/>
            <a:ext cx="2512" cy="658621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7">
            <a:extLst>
              <a:ext uri="{FF2B5EF4-FFF2-40B4-BE49-F238E27FC236}">
                <a16:creationId xmlns:a16="http://schemas.microsoft.com/office/drawing/2014/main" id="{746EBA4C-0756-59C7-A2D5-13370B533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285" y="6379721"/>
            <a:ext cx="1287464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cs typeface="Calibri" panose="020F0502020204030204" pitchFamily="34" charset="0"/>
              </a:rPr>
              <a:t>Sublimation</a:t>
            </a:r>
          </a:p>
        </p:txBody>
      </p:sp>
      <p:sp>
        <p:nvSpPr>
          <p:cNvPr id="39" name="文本框 31">
            <a:extLst>
              <a:ext uri="{FF2B5EF4-FFF2-40B4-BE49-F238E27FC236}">
                <a16:creationId xmlns:a16="http://schemas.microsoft.com/office/drawing/2014/main" id="{B075E203-1BE2-45EA-8217-A1C31C441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697" y="8883092"/>
            <a:ext cx="2643890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Unconfined aquifer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C3FE8F9-3BB0-4A00-FBDA-79A27478D196}"/>
              </a:ext>
            </a:extLst>
          </p:cNvPr>
          <p:cNvSpPr/>
          <p:nvPr/>
        </p:nvSpPr>
        <p:spPr bwMode="auto">
          <a:xfrm>
            <a:off x="5896777" y="7345991"/>
            <a:ext cx="819456" cy="34597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en-US" altLang="zh-CN" sz="1399" b="1" noProof="1">
                <a:solidFill>
                  <a:srgbClr val="1D41D5"/>
                </a:solidFill>
                <a:ea typeface="楷体" panose="02010609060101010101" charset="-122"/>
                <a:cs typeface="Calibri" panose="020F0502020204030204" pitchFamily="34" charset="0"/>
              </a:rPr>
              <a:t>Snow</a:t>
            </a:r>
          </a:p>
        </p:txBody>
      </p:sp>
      <p:cxnSp>
        <p:nvCxnSpPr>
          <p:cNvPr id="41" name="直接箭头连接符 94">
            <a:extLst>
              <a:ext uri="{FF2B5EF4-FFF2-40B4-BE49-F238E27FC236}">
                <a16:creationId xmlns:a16="http://schemas.microsoft.com/office/drawing/2014/main" id="{218A70B2-FA4F-695E-EC07-362228715A9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58083" y="6957921"/>
            <a:ext cx="0" cy="743283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34">
            <a:extLst>
              <a:ext uri="{FF2B5EF4-FFF2-40B4-BE49-F238E27FC236}">
                <a16:creationId xmlns:a16="http://schemas.microsoft.com/office/drawing/2014/main" id="{071BD458-47AF-1AB6-2561-25B113ED66FD}"/>
              </a:ext>
            </a:extLst>
          </p:cNvPr>
          <p:cNvCxnSpPr>
            <a:cxnSpLocks/>
          </p:cNvCxnSpPr>
          <p:nvPr/>
        </p:nvCxnSpPr>
        <p:spPr bwMode="auto">
          <a:xfrm>
            <a:off x="6716277" y="7419843"/>
            <a:ext cx="512857" cy="299770"/>
          </a:xfrm>
          <a:prstGeom prst="bentConnector3">
            <a:avLst>
              <a:gd name="adj1" fmla="val 100597"/>
            </a:avLst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96">
            <a:extLst>
              <a:ext uri="{FF2B5EF4-FFF2-40B4-BE49-F238E27FC236}">
                <a16:creationId xmlns:a16="http://schemas.microsoft.com/office/drawing/2014/main" id="{A3024C0A-136C-8A6A-8E68-251E6C753A79}"/>
              </a:ext>
            </a:extLst>
          </p:cNvPr>
          <p:cNvCxnSpPr>
            <a:cxnSpLocks/>
          </p:cNvCxnSpPr>
          <p:nvPr/>
        </p:nvCxnSpPr>
        <p:spPr bwMode="auto">
          <a:xfrm>
            <a:off x="8211934" y="7241273"/>
            <a:ext cx="0" cy="472265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8">
            <a:extLst>
              <a:ext uri="{FF2B5EF4-FFF2-40B4-BE49-F238E27FC236}">
                <a16:creationId xmlns:a16="http://schemas.microsoft.com/office/drawing/2014/main" id="{4FABBC60-7915-13A2-D92D-85BF7690B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245" y="6398709"/>
            <a:ext cx="1331470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Surface</a:t>
            </a:r>
          </a:p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Evaporation</a:t>
            </a:r>
          </a:p>
        </p:txBody>
      </p:sp>
      <p:sp>
        <p:nvSpPr>
          <p:cNvPr id="45" name="文本框 9">
            <a:extLst>
              <a:ext uri="{FF2B5EF4-FFF2-40B4-BE49-F238E27FC236}">
                <a16:creationId xmlns:a16="http://schemas.microsoft.com/office/drawing/2014/main" id="{95B44649-0F97-D133-30D3-7FC73D3D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6992" y="6960755"/>
            <a:ext cx="974027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Infiltration</a:t>
            </a:r>
          </a:p>
        </p:txBody>
      </p:sp>
      <p:sp>
        <p:nvSpPr>
          <p:cNvPr id="46" name="文本框 59">
            <a:extLst>
              <a:ext uri="{FF2B5EF4-FFF2-40B4-BE49-F238E27FC236}">
                <a16:creationId xmlns:a16="http://schemas.microsoft.com/office/drawing/2014/main" id="{402BF9AA-0371-4ACC-14FF-B42B87174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499" y="7714421"/>
            <a:ext cx="2926065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cs typeface="Calibri" panose="020F0502020204030204" pitchFamily="34" charset="0"/>
              </a:rPr>
              <a:t>Soil Layers(</a:t>
            </a:r>
            <a:r>
              <a:rPr lang="en-US" altLang="zh-CN" sz="1399" b="1" dirty="0" err="1">
                <a:cs typeface="Calibri" panose="020F0502020204030204" pitchFamily="34" charset="0"/>
              </a:rPr>
              <a:t>Sand,Clay,Organic</a:t>
            </a:r>
            <a:r>
              <a:rPr lang="en-US" altLang="zh-CN" sz="1399" b="1" dirty="0"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7" name="文本框 27">
            <a:extLst>
              <a:ext uri="{FF2B5EF4-FFF2-40B4-BE49-F238E27FC236}">
                <a16:creationId xmlns:a16="http://schemas.microsoft.com/office/drawing/2014/main" id="{FD94697D-34C9-D243-7F90-C8C31297B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1170" y="8162105"/>
            <a:ext cx="1791167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Vertical &amp; Lateral </a:t>
            </a:r>
          </a:p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Soil Flow</a:t>
            </a:r>
          </a:p>
        </p:txBody>
      </p:sp>
      <p:cxnSp>
        <p:nvCxnSpPr>
          <p:cNvPr id="48" name="直接箭头连接符 135">
            <a:extLst>
              <a:ext uri="{FF2B5EF4-FFF2-40B4-BE49-F238E27FC236}">
                <a16:creationId xmlns:a16="http://schemas.microsoft.com/office/drawing/2014/main" id="{0BE28471-F227-E877-3E1A-D2AE245B1DEF}"/>
              </a:ext>
            </a:extLst>
          </p:cNvPr>
          <p:cNvCxnSpPr>
            <a:cxnSpLocks/>
          </p:cNvCxnSpPr>
          <p:nvPr/>
        </p:nvCxnSpPr>
        <p:spPr bwMode="auto">
          <a:xfrm>
            <a:off x="7264489" y="7993634"/>
            <a:ext cx="0" cy="918154"/>
          </a:xfrm>
          <a:prstGeom prst="straightConnector1">
            <a:avLst/>
          </a:prstGeom>
          <a:ln w="38100">
            <a:solidFill>
              <a:srgbClr val="1D41D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136">
            <a:extLst>
              <a:ext uri="{FF2B5EF4-FFF2-40B4-BE49-F238E27FC236}">
                <a16:creationId xmlns:a16="http://schemas.microsoft.com/office/drawing/2014/main" id="{13522C55-AEB4-965F-419A-EF9809B5CD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762189" y="8438209"/>
            <a:ext cx="966876" cy="549"/>
          </a:xfrm>
          <a:prstGeom prst="straightConnector1">
            <a:avLst/>
          </a:prstGeom>
          <a:ln w="38100">
            <a:solidFill>
              <a:srgbClr val="1D41D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25">
            <a:extLst>
              <a:ext uri="{FF2B5EF4-FFF2-40B4-BE49-F238E27FC236}">
                <a16:creationId xmlns:a16="http://schemas.microsoft.com/office/drawing/2014/main" id="{A3E9E7A1-7DF0-8104-F418-D8C9C795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9098" y="3495530"/>
            <a:ext cx="1539729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Transpiration</a:t>
            </a:r>
          </a:p>
        </p:txBody>
      </p:sp>
      <p:cxnSp>
        <p:nvCxnSpPr>
          <p:cNvPr id="51" name="直接箭头连接符 109">
            <a:extLst>
              <a:ext uri="{FF2B5EF4-FFF2-40B4-BE49-F238E27FC236}">
                <a16:creationId xmlns:a16="http://schemas.microsoft.com/office/drawing/2014/main" id="{2000B1FC-F136-6B13-8B3F-D44DA45FA099}"/>
              </a:ext>
            </a:extLst>
          </p:cNvPr>
          <p:cNvCxnSpPr>
            <a:cxnSpLocks/>
            <a:stCxn id="53" idx="0"/>
            <a:endCxn id="50" idx="2"/>
          </p:cNvCxnSpPr>
          <p:nvPr/>
        </p:nvCxnSpPr>
        <p:spPr bwMode="auto">
          <a:xfrm flipV="1">
            <a:off x="10347400" y="3803179"/>
            <a:ext cx="1562" cy="784345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65">
            <a:extLst>
              <a:ext uri="{FF2B5EF4-FFF2-40B4-BE49-F238E27FC236}">
                <a16:creationId xmlns:a16="http://schemas.microsoft.com/office/drawing/2014/main" id="{8D17C122-D96E-1ACC-2C08-2A2EBE63C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827" y="5123187"/>
            <a:ext cx="1337786" cy="307648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Photosynthesis</a:t>
            </a:r>
          </a:p>
        </p:txBody>
      </p:sp>
      <p:sp>
        <p:nvSpPr>
          <p:cNvPr id="53" name="文本框 67">
            <a:extLst>
              <a:ext uri="{FF2B5EF4-FFF2-40B4-BE49-F238E27FC236}">
                <a16:creationId xmlns:a16="http://schemas.microsoft.com/office/drawing/2014/main" id="{82B0AEB1-3644-BD12-BD6D-EB6F3ADD3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5640" y="4587523"/>
            <a:ext cx="903520" cy="307648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Stoma</a:t>
            </a:r>
          </a:p>
        </p:txBody>
      </p:sp>
      <p:cxnSp>
        <p:nvCxnSpPr>
          <p:cNvPr id="54" name="肘形连接符 70">
            <a:extLst>
              <a:ext uri="{FF2B5EF4-FFF2-40B4-BE49-F238E27FC236}">
                <a16:creationId xmlns:a16="http://schemas.microsoft.com/office/drawing/2014/main" id="{418D0BF1-87CD-B417-B0AF-CA99A75CD80B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9995202" y="4325614"/>
            <a:ext cx="229377" cy="257791"/>
          </a:xfrm>
          <a:prstGeom prst="bentConnector2">
            <a:avLst/>
          </a:prstGeom>
          <a:ln w="38100">
            <a:solidFill>
              <a:srgbClr val="00B05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文本框 71">
            <a:extLst>
              <a:ext uri="{FF2B5EF4-FFF2-40B4-BE49-F238E27FC236}">
                <a16:creationId xmlns:a16="http://schemas.microsoft.com/office/drawing/2014/main" id="{05F77A44-BE2A-14BE-B917-E2067BF09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0869" y="4171789"/>
            <a:ext cx="1594333" cy="307648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CO</a:t>
            </a:r>
            <a:r>
              <a:rPr lang="en-US" altLang="zh-CN" sz="1399" b="1" baseline="-25000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2  </a:t>
            </a:r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Absorption</a:t>
            </a:r>
          </a:p>
        </p:txBody>
      </p:sp>
      <p:cxnSp>
        <p:nvCxnSpPr>
          <p:cNvPr id="56" name="肘形连接符 72">
            <a:extLst>
              <a:ext uri="{FF2B5EF4-FFF2-40B4-BE49-F238E27FC236}">
                <a16:creationId xmlns:a16="http://schemas.microsoft.com/office/drawing/2014/main" id="{3111409F-1B79-D82A-BC91-FA363BA9885A}"/>
              </a:ext>
            </a:extLst>
          </p:cNvPr>
          <p:cNvCxnSpPr>
            <a:cxnSpLocks/>
            <a:stCxn id="53" idx="1"/>
            <a:endCxn id="52" idx="0"/>
          </p:cNvCxnSpPr>
          <p:nvPr/>
        </p:nvCxnSpPr>
        <p:spPr bwMode="auto">
          <a:xfrm rot="10800000" flipV="1">
            <a:off x="9265720" y="4741347"/>
            <a:ext cx="629920" cy="381840"/>
          </a:xfrm>
          <a:prstGeom prst="bentConnector2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73">
            <a:extLst>
              <a:ext uri="{FF2B5EF4-FFF2-40B4-BE49-F238E27FC236}">
                <a16:creationId xmlns:a16="http://schemas.microsoft.com/office/drawing/2014/main" id="{3666AC99-5900-63BB-6A21-01201E904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688" y="5729108"/>
            <a:ext cx="1140528" cy="307648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Respiration</a:t>
            </a:r>
          </a:p>
        </p:txBody>
      </p:sp>
      <p:sp>
        <p:nvSpPr>
          <p:cNvPr id="58" name="文本框 24">
            <a:extLst>
              <a:ext uri="{FF2B5EF4-FFF2-40B4-BE49-F238E27FC236}">
                <a16:creationId xmlns:a16="http://schemas.microsoft.com/office/drawing/2014/main" id="{D386E7AA-0050-6A1D-DA32-02DD5A0EE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588" y="7966606"/>
            <a:ext cx="1323383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cs typeface="Calibri" panose="020F0502020204030204" pitchFamily="34" charset="0"/>
              </a:rPr>
              <a:t>Root Water Suction </a:t>
            </a:r>
          </a:p>
        </p:txBody>
      </p:sp>
      <p:cxnSp>
        <p:nvCxnSpPr>
          <p:cNvPr id="59" name="直接箭头连接符 498">
            <a:extLst>
              <a:ext uri="{FF2B5EF4-FFF2-40B4-BE49-F238E27FC236}">
                <a16:creationId xmlns:a16="http://schemas.microsoft.com/office/drawing/2014/main" id="{D1EC3069-2F5F-7A69-313F-19282F310502}"/>
              </a:ext>
            </a:extLst>
          </p:cNvPr>
          <p:cNvCxnSpPr>
            <a:cxnSpLocks/>
          </p:cNvCxnSpPr>
          <p:nvPr/>
        </p:nvCxnSpPr>
        <p:spPr>
          <a:xfrm flipV="1">
            <a:off x="5528348" y="7103148"/>
            <a:ext cx="0" cy="595948"/>
          </a:xfrm>
          <a:prstGeom prst="straightConnector1">
            <a:avLst/>
          </a:prstGeom>
          <a:ln w="38100">
            <a:solidFill>
              <a:srgbClr val="EE00E0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60" name="文本框 25">
            <a:extLst>
              <a:ext uri="{FF2B5EF4-FFF2-40B4-BE49-F238E27FC236}">
                <a16:creationId xmlns:a16="http://schemas.microsoft.com/office/drawing/2014/main" id="{F0C936EC-074C-DAA0-A88D-392D3DFC8F74}"/>
              </a:ext>
            </a:extLst>
          </p:cNvPr>
          <p:cNvSpPr txBox="1"/>
          <p:nvPr/>
        </p:nvSpPr>
        <p:spPr>
          <a:xfrm>
            <a:off x="4876544" y="6820987"/>
            <a:ext cx="1288370" cy="30764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+mn-ea"/>
              </a:rPr>
              <a:t>Sensible Heat</a:t>
            </a:r>
            <a:endParaRPr lang="zh-CN" altLang="en-US" sz="1399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61" name="图片 81">
            <a:extLst>
              <a:ext uri="{FF2B5EF4-FFF2-40B4-BE49-F238E27FC236}">
                <a16:creationId xmlns:a16="http://schemas.microsoft.com/office/drawing/2014/main" id="{F4831EA7-7C5A-56F3-9505-2A29CE6FBAA9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4925" y="8061520"/>
            <a:ext cx="742245" cy="672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文本框 82">
            <a:extLst>
              <a:ext uri="{FF2B5EF4-FFF2-40B4-BE49-F238E27FC236}">
                <a16:creationId xmlns:a16="http://schemas.microsoft.com/office/drawing/2014/main" id="{710CA722-4382-9AC4-87C2-D4F93362C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9594" y="7963092"/>
            <a:ext cx="800941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Freeze</a:t>
            </a:r>
          </a:p>
        </p:txBody>
      </p:sp>
      <p:sp>
        <p:nvSpPr>
          <p:cNvPr id="63" name="文本框 83">
            <a:extLst>
              <a:ext uri="{FF2B5EF4-FFF2-40B4-BE49-F238E27FC236}">
                <a16:creationId xmlns:a16="http://schemas.microsoft.com/office/drawing/2014/main" id="{47EA9E6A-2A1C-70FD-A6A5-6B9335D7A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3601" y="8542918"/>
            <a:ext cx="557990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Melt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1A952E7E-820B-4C62-69C2-07022B61F9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780" y="7649660"/>
            <a:ext cx="399942" cy="440115"/>
          </a:xfrm>
          <a:prstGeom prst="rect">
            <a:avLst/>
          </a:prstGeom>
        </p:spPr>
      </p:pic>
      <p:sp>
        <p:nvSpPr>
          <p:cNvPr id="65" name="文本框 46">
            <a:extLst>
              <a:ext uri="{FF2B5EF4-FFF2-40B4-BE49-F238E27FC236}">
                <a16:creationId xmlns:a16="http://schemas.microsoft.com/office/drawing/2014/main" id="{16F59371-DFCA-111C-B47E-4C9B2AD36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7515" y="6745439"/>
            <a:ext cx="1403192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Groundwater withdrawal</a:t>
            </a:r>
          </a:p>
        </p:txBody>
      </p:sp>
      <p:cxnSp>
        <p:nvCxnSpPr>
          <p:cNvPr id="66" name="直接箭头连接符 168">
            <a:extLst>
              <a:ext uri="{FF2B5EF4-FFF2-40B4-BE49-F238E27FC236}">
                <a16:creationId xmlns:a16="http://schemas.microsoft.com/office/drawing/2014/main" id="{C8E5F360-8EEA-4EDC-4C41-5F4B38F277B4}"/>
              </a:ext>
            </a:extLst>
          </p:cNvPr>
          <p:cNvCxnSpPr>
            <a:cxnSpLocks/>
          </p:cNvCxnSpPr>
          <p:nvPr/>
        </p:nvCxnSpPr>
        <p:spPr bwMode="auto">
          <a:xfrm flipV="1">
            <a:off x="11869956" y="6957921"/>
            <a:ext cx="0" cy="2161100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34">
            <a:extLst>
              <a:ext uri="{FF2B5EF4-FFF2-40B4-BE49-F238E27FC236}">
                <a16:creationId xmlns:a16="http://schemas.microsoft.com/office/drawing/2014/main" id="{FA2BA7C4-55BB-050E-BA1E-ED55E001C107}"/>
              </a:ext>
            </a:extLst>
          </p:cNvPr>
          <p:cNvCxnSpPr>
            <a:cxnSpLocks/>
            <a:endCxn id="31" idx="0"/>
          </p:cNvCxnSpPr>
          <p:nvPr/>
        </p:nvCxnSpPr>
        <p:spPr bwMode="auto">
          <a:xfrm>
            <a:off x="11852142" y="6968201"/>
            <a:ext cx="477357" cy="250357"/>
          </a:xfrm>
          <a:prstGeom prst="bentConnector2">
            <a:avLst/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肘形连接符 34">
            <a:extLst>
              <a:ext uri="{FF2B5EF4-FFF2-40B4-BE49-F238E27FC236}">
                <a16:creationId xmlns:a16="http://schemas.microsoft.com/office/drawing/2014/main" id="{34285804-83AC-3FB9-F4E8-C74CF41E7108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12790182" y="7006474"/>
            <a:ext cx="1855072" cy="225343"/>
          </a:xfrm>
          <a:prstGeom prst="bentConnector2">
            <a:avLst/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46">
            <a:extLst>
              <a:ext uri="{FF2B5EF4-FFF2-40B4-BE49-F238E27FC236}">
                <a16:creationId xmlns:a16="http://schemas.microsoft.com/office/drawing/2014/main" id="{128883AD-13A4-345E-FCD9-029F6EF4E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1481" y="6666187"/>
            <a:ext cx="10892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Irrigation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37F5333-565B-DBF2-1B51-469F151C977A}"/>
              </a:ext>
            </a:extLst>
          </p:cNvPr>
          <p:cNvSpPr txBox="1"/>
          <p:nvPr/>
        </p:nvSpPr>
        <p:spPr>
          <a:xfrm>
            <a:off x="14257361" y="7789403"/>
            <a:ext cx="1466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15">
              <a:defRPr/>
            </a:pPr>
            <a:r>
              <a:rPr lang="en-US" altLang="zh-CN" sz="1600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Streamflow</a:t>
            </a:r>
          </a:p>
          <a:p>
            <a:pPr algn="ctr" defTabSz="914315">
              <a:defRPr/>
            </a:pPr>
            <a:r>
              <a:rPr lang="en-US" altLang="zh-CN" sz="1600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&amp;Reservoir</a:t>
            </a:r>
            <a:r>
              <a:rPr lang="zh-CN" altLang="en-US" sz="1600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altLang="zh-CN" sz="1600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Operation</a:t>
            </a:r>
          </a:p>
        </p:txBody>
      </p:sp>
      <p:sp>
        <p:nvSpPr>
          <p:cNvPr id="71" name="文本框 46">
            <a:extLst>
              <a:ext uri="{FF2B5EF4-FFF2-40B4-BE49-F238E27FC236}">
                <a16:creationId xmlns:a16="http://schemas.microsoft.com/office/drawing/2014/main" id="{F38B8372-6015-9F90-BC75-DA15FC0A0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5133" y="6496732"/>
            <a:ext cx="1887144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Surface water withdrawal</a:t>
            </a:r>
          </a:p>
        </p:txBody>
      </p:sp>
      <p:cxnSp>
        <p:nvCxnSpPr>
          <p:cNvPr id="73" name="直接箭头连接符 106">
            <a:extLst>
              <a:ext uri="{FF2B5EF4-FFF2-40B4-BE49-F238E27FC236}">
                <a16:creationId xmlns:a16="http://schemas.microsoft.com/office/drawing/2014/main" id="{95816557-51C7-3F8F-746E-672CB6781717}"/>
              </a:ext>
            </a:extLst>
          </p:cNvPr>
          <p:cNvCxnSpPr/>
          <p:nvPr/>
        </p:nvCxnSpPr>
        <p:spPr bwMode="auto">
          <a:xfrm>
            <a:off x="13071735" y="8944060"/>
            <a:ext cx="1367026" cy="0"/>
          </a:xfrm>
          <a:prstGeom prst="straightConnector1">
            <a:avLst/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文本框 61">
            <a:extLst>
              <a:ext uri="{FF2B5EF4-FFF2-40B4-BE49-F238E27FC236}">
                <a16:creationId xmlns:a16="http://schemas.microsoft.com/office/drawing/2014/main" id="{2CAD7477-5F4C-FDCF-6B92-CA09C291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8317" y="8413195"/>
            <a:ext cx="1936402" cy="5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Baseflow &amp; Saturation Runoff</a:t>
            </a:r>
          </a:p>
        </p:txBody>
      </p:sp>
      <p:cxnSp>
        <p:nvCxnSpPr>
          <p:cNvPr id="75" name="直接箭头连接符 106">
            <a:extLst>
              <a:ext uri="{FF2B5EF4-FFF2-40B4-BE49-F238E27FC236}">
                <a16:creationId xmlns:a16="http://schemas.microsoft.com/office/drawing/2014/main" id="{3D0AC13D-25DB-3BAA-4A41-D6357A835D42}"/>
              </a:ext>
            </a:extLst>
          </p:cNvPr>
          <p:cNvCxnSpPr>
            <a:cxnSpLocks/>
          </p:cNvCxnSpPr>
          <p:nvPr/>
        </p:nvCxnSpPr>
        <p:spPr bwMode="auto">
          <a:xfrm flipV="1">
            <a:off x="13418814" y="7604614"/>
            <a:ext cx="1015857" cy="8469"/>
          </a:xfrm>
          <a:prstGeom prst="straightConnector1">
            <a:avLst/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文本框 46">
            <a:extLst>
              <a:ext uri="{FF2B5EF4-FFF2-40B4-BE49-F238E27FC236}">
                <a16:creationId xmlns:a16="http://schemas.microsoft.com/office/drawing/2014/main" id="{63E37795-58A0-35CA-8DDC-8771B2DB4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9669" y="7272898"/>
            <a:ext cx="1312951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Surface runoff</a:t>
            </a:r>
          </a:p>
        </p:txBody>
      </p:sp>
      <p:cxnSp>
        <p:nvCxnSpPr>
          <p:cNvPr id="77" name="直接箭头连接符 109">
            <a:extLst>
              <a:ext uri="{FF2B5EF4-FFF2-40B4-BE49-F238E27FC236}">
                <a16:creationId xmlns:a16="http://schemas.microsoft.com/office/drawing/2014/main" id="{AFA45213-35C1-F9BF-8EBE-B62035ED9F14}"/>
              </a:ext>
            </a:extLst>
          </p:cNvPr>
          <p:cNvCxnSpPr>
            <a:cxnSpLocks/>
            <a:endCxn id="53" idx="2"/>
          </p:cNvCxnSpPr>
          <p:nvPr/>
        </p:nvCxnSpPr>
        <p:spPr bwMode="auto">
          <a:xfrm flipV="1">
            <a:off x="10347400" y="4895171"/>
            <a:ext cx="0" cy="3139502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340">
            <a:extLst>
              <a:ext uri="{FF2B5EF4-FFF2-40B4-BE49-F238E27FC236}">
                <a16:creationId xmlns:a16="http://schemas.microsoft.com/office/drawing/2014/main" id="{C68DB7A6-4D6B-48CD-EC21-5C2456135BF0}"/>
              </a:ext>
            </a:extLst>
          </p:cNvPr>
          <p:cNvCxnSpPr/>
          <p:nvPr/>
        </p:nvCxnSpPr>
        <p:spPr>
          <a:xfrm>
            <a:off x="9268987" y="8014225"/>
            <a:ext cx="0" cy="411310"/>
          </a:xfrm>
          <a:prstGeom prst="straightConnector1">
            <a:avLst/>
          </a:prstGeom>
          <a:ln w="31750">
            <a:solidFill>
              <a:srgbClr val="EE00E0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79" name="文本框 33">
            <a:extLst>
              <a:ext uri="{FF2B5EF4-FFF2-40B4-BE49-F238E27FC236}">
                <a16:creationId xmlns:a16="http://schemas.microsoft.com/office/drawing/2014/main" id="{3175B058-6EE5-441F-B50A-DA7AACA8AEC2}"/>
              </a:ext>
            </a:extLst>
          </p:cNvPr>
          <p:cNvSpPr txBox="1"/>
          <p:nvPr/>
        </p:nvSpPr>
        <p:spPr>
          <a:xfrm>
            <a:off x="8867343" y="8425413"/>
            <a:ext cx="785729" cy="52296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Heat</a:t>
            </a:r>
          </a:p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Transfer</a:t>
            </a:r>
            <a:endParaRPr lang="zh-CN" altLang="en-US" sz="1399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0" name="文本框 23">
            <a:extLst>
              <a:ext uri="{FF2B5EF4-FFF2-40B4-BE49-F238E27FC236}">
                <a16:creationId xmlns:a16="http://schemas.microsoft.com/office/drawing/2014/main" id="{F88B9551-848A-AFCD-5B3B-85A684D28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959" y="7129271"/>
            <a:ext cx="558192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Melt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2DE1661-F6EF-2B8B-5C5D-3F744BF23222}"/>
              </a:ext>
            </a:extLst>
          </p:cNvPr>
          <p:cNvSpPr/>
          <p:nvPr/>
        </p:nvSpPr>
        <p:spPr>
          <a:xfrm>
            <a:off x="3580630" y="2573938"/>
            <a:ext cx="5398269" cy="414268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cs typeface="+mn-lt"/>
              </a:rPr>
              <a:t>CSSPv3 Land Surface Model</a:t>
            </a:r>
          </a:p>
        </p:txBody>
      </p: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44B1FB9F-E683-E593-0949-2C6B29D2516C}"/>
              </a:ext>
            </a:extLst>
          </p:cNvPr>
          <p:cNvGrpSpPr/>
          <p:nvPr/>
        </p:nvGrpSpPr>
        <p:grpSpPr>
          <a:xfrm>
            <a:off x="6608385" y="3124308"/>
            <a:ext cx="1852106" cy="1278283"/>
            <a:chOff x="6092227" y="496537"/>
            <a:chExt cx="1852106" cy="1278283"/>
          </a:xfrm>
        </p:grpSpPr>
        <p:grpSp>
          <p:nvGrpSpPr>
            <p:cNvPr id="5" name="组合 2">
              <a:extLst>
                <a:ext uri="{FF2B5EF4-FFF2-40B4-BE49-F238E27FC236}">
                  <a16:creationId xmlns:a16="http://schemas.microsoft.com/office/drawing/2014/main" id="{149C28CD-B33F-C25F-35DB-2A52454A7509}"/>
                </a:ext>
              </a:extLst>
            </p:cNvPr>
            <p:cNvGrpSpPr/>
            <p:nvPr/>
          </p:nvGrpSpPr>
          <p:grpSpPr>
            <a:xfrm>
              <a:off x="6092227" y="496537"/>
              <a:ext cx="1852106" cy="735520"/>
              <a:chOff x="399" y="952"/>
              <a:chExt cx="3828" cy="1521"/>
            </a:xfrm>
          </p:grpSpPr>
          <p:pic>
            <p:nvPicPr>
              <p:cNvPr id="6" name="图片 77" descr="&amp;pky8969143943&amp;">
                <a:extLst>
                  <a:ext uri="{FF2B5EF4-FFF2-40B4-BE49-F238E27FC236}">
                    <a16:creationId xmlns:a16="http://schemas.microsoft.com/office/drawing/2014/main" id="{37627327-DC07-D3D7-F0D3-C52AB2756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EAACB"/>
                  </a:clrFrom>
                  <a:clrTo>
                    <a:srgbClr val="FEAACB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99" y="952"/>
                <a:ext cx="2877" cy="15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7" name="图片 78" descr="&amp;pky8969143943&amp;">
                <a:extLst>
                  <a:ext uri="{FF2B5EF4-FFF2-40B4-BE49-F238E27FC236}">
                    <a16:creationId xmlns:a16="http://schemas.microsoft.com/office/drawing/2014/main" id="{558EC93E-AEA0-A7C7-2C8B-9465E2427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EAACB"/>
                  </a:clrFrom>
                  <a:clrTo>
                    <a:srgbClr val="FEAACB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350" y="952"/>
                <a:ext cx="2877" cy="15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" name="文本框 84">
                <a:extLst>
                  <a:ext uri="{FF2B5EF4-FFF2-40B4-BE49-F238E27FC236}">
                    <a16:creationId xmlns:a16="http://schemas.microsoft.com/office/drawing/2014/main" id="{4F5E6C85-1A83-B105-491E-8E2C254997F3}"/>
                  </a:ext>
                </a:extLst>
              </p:cNvPr>
              <p:cNvSpPr txBox="1"/>
              <p:nvPr/>
            </p:nvSpPr>
            <p:spPr>
              <a:xfrm>
                <a:off x="1241" y="1208"/>
                <a:ext cx="2097" cy="6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endParaRPr lang="zh-CN" altLang="en-US" sz="1399" b="1" dirty="0">
                  <a:solidFill>
                    <a:srgbClr val="1D41D5"/>
                  </a:solidFill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2" name="文本框 84">
              <a:extLst>
                <a:ext uri="{FF2B5EF4-FFF2-40B4-BE49-F238E27FC236}">
                  <a16:creationId xmlns:a16="http://schemas.microsoft.com/office/drawing/2014/main" id="{3C8EF7D3-04B5-03BD-3A6D-2E6EB2E3F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9642" y="1165323"/>
              <a:ext cx="13314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1D41D5"/>
                  </a:solidFill>
                  <a:ea typeface="楷体" panose="02010609060101010101" pitchFamily="49" charset="-122"/>
                  <a:cs typeface="Calibri" panose="020F0502020204030204" pitchFamily="34" charset="0"/>
                </a:rPr>
                <a:t>Precipitation</a:t>
              </a:r>
            </a:p>
          </p:txBody>
        </p:sp>
        <p:cxnSp>
          <p:nvCxnSpPr>
            <p:cNvPr id="82" name="直接箭头连接符 96">
              <a:extLst>
                <a:ext uri="{FF2B5EF4-FFF2-40B4-BE49-F238E27FC236}">
                  <a16:creationId xmlns:a16="http://schemas.microsoft.com/office/drawing/2014/main" id="{5904AF7F-7638-92CC-56B8-DDAF7C9990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51305" y="1486820"/>
              <a:ext cx="0" cy="288000"/>
            </a:xfrm>
            <a:prstGeom prst="straightConnector1">
              <a:avLst/>
            </a:prstGeom>
            <a:ln w="38100">
              <a:solidFill>
                <a:srgbClr val="1D41D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96">
              <a:extLst>
                <a:ext uri="{FF2B5EF4-FFF2-40B4-BE49-F238E27FC236}">
                  <a16:creationId xmlns:a16="http://schemas.microsoft.com/office/drawing/2014/main" id="{E84B7495-05C7-DF5E-A988-1841CC5712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22008" y="1486820"/>
              <a:ext cx="0" cy="288000"/>
            </a:xfrm>
            <a:prstGeom prst="straightConnector1">
              <a:avLst/>
            </a:prstGeom>
            <a:ln w="38100">
              <a:solidFill>
                <a:srgbClr val="1D41D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96">
              <a:extLst>
                <a:ext uri="{FF2B5EF4-FFF2-40B4-BE49-F238E27FC236}">
                  <a16:creationId xmlns:a16="http://schemas.microsoft.com/office/drawing/2014/main" id="{AEF362FB-D6F5-F0A7-D7D6-068337187C0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92710" y="1486820"/>
              <a:ext cx="0" cy="288000"/>
            </a:xfrm>
            <a:prstGeom prst="straightConnector1">
              <a:avLst/>
            </a:prstGeom>
            <a:ln w="38100">
              <a:solidFill>
                <a:srgbClr val="1D41D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文本框 25">
            <a:extLst>
              <a:ext uri="{FF2B5EF4-FFF2-40B4-BE49-F238E27FC236}">
                <a16:creationId xmlns:a16="http://schemas.microsoft.com/office/drawing/2014/main" id="{6F04E88F-41FA-1810-A448-9C04D7F0DA78}"/>
              </a:ext>
            </a:extLst>
          </p:cNvPr>
          <p:cNvSpPr txBox="1"/>
          <p:nvPr/>
        </p:nvSpPr>
        <p:spPr>
          <a:xfrm>
            <a:off x="8551504" y="6611431"/>
            <a:ext cx="1102564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Soil 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Reflection</a:t>
            </a:r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&amp;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Absorption</a:t>
            </a:r>
            <a:endParaRPr lang="zh-CN" altLang="en-US" sz="1200" b="1" dirty="0">
              <a:solidFill>
                <a:srgbClr val="CB8611"/>
              </a:solidFill>
              <a:cs typeface="Calibri" panose="020F0502020204030204" pitchFamily="34" charset="0"/>
            </a:endParaRPr>
          </a:p>
        </p:txBody>
      </p:sp>
      <p:cxnSp>
        <p:nvCxnSpPr>
          <p:cNvPr id="86" name="直接箭头连接符 495">
            <a:extLst>
              <a:ext uri="{FF2B5EF4-FFF2-40B4-BE49-F238E27FC236}">
                <a16:creationId xmlns:a16="http://schemas.microsoft.com/office/drawing/2014/main" id="{9F248D24-3406-94FF-9D4B-4E42C466EFC0}"/>
              </a:ext>
            </a:extLst>
          </p:cNvPr>
          <p:cNvCxnSpPr>
            <a:cxnSpLocks/>
          </p:cNvCxnSpPr>
          <p:nvPr/>
        </p:nvCxnSpPr>
        <p:spPr>
          <a:xfrm>
            <a:off x="9103801" y="7288507"/>
            <a:ext cx="1210" cy="395583"/>
          </a:xfrm>
          <a:prstGeom prst="straightConnector1">
            <a:avLst/>
          </a:prstGeom>
          <a:ln w="41275">
            <a:solidFill>
              <a:srgbClr val="CB861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496">
            <a:extLst>
              <a:ext uri="{FF2B5EF4-FFF2-40B4-BE49-F238E27FC236}">
                <a16:creationId xmlns:a16="http://schemas.microsoft.com/office/drawing/2014/main" id="{16382118-6051-DDE2-EE97-09A1C5F42D9D}"/>
              </a:ext>
            </a:extLst>
          </p:cNvPr>
          <p:cNvCxnSpPr>
            <a:cxnSpLocks/>
          </p:cNvCxnSpPr>
          <p:nvPr/>
        </p:nvCxnSpPr>
        <p:spPr>
          <a:xfrm flipH="1" flipV="1">
            <a:off x="8749839" y="7331040"/>
            <a:ext cx="345653" cy="346271"/>
          </a:xfrm>
          <a:prstGeom prst="straightConnector1">
            <a:avLst/>
          </a:prstGeom>
          <a:ln w="41275">
            <a:solidFill>
              <a:srgbClr val="CB86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D4FB9D2A-308D-6435-D8FC-07DC87795495}"/>
              </a:ext>
            </a:extLst>
          </p:cNvPr>
          <p:cNvSpPr/>
          <p:nvPr/>
        </p:nvSpPr>
        <p:spPr>
          <a:xfrm>
            <a:off x="3580631" y="4948874"/>
            <a:ext cx="1944001" cy="432001"/>
          </a:xfrm>
          <a:prstGeom prst="rect">
            <a:avLst/>
          </a:prstGeom>
          <a:noFill/>
          <a:ln w="22225">
            <a:solidFill>
              <a:srgbClr val="CB8611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72" noProof="1"/>
          </a:p>
        </p:txBody>
      </p:sp>
      <p:sp>
        <p:nvSpPr>
          <p:cNvPr id="89" name="文本框 207">
            <a:extLst>
              <a:ext uri="{FF2B5EF4-FFF2-40B4-BE49-F238E27FC236}">
                <a16:creationId xmlns:a16="http://schemas.microsoft.com/office/drawing/2014/main" id="{40DAE62D-FE92-FE8C-1B68-907E62CB9000}"/>
              </a:ext>
            </a:extLst>
          </p:cNvPr>
          <p:cNvSpPr txBox="1"/>
          <p:nvPr/>
        </p:nvSpPr>
        <p:spPr>
          <a:xfrm>
            <a:off x="3673735" y="4392006"/>
            <a:ext cx="1850897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" altLang="zh-CN" b="1" dirty="0">
                <a:solidFill>
                  <a:srgbClr val="EE00E0"/>
                </a:solidFill>
                <a:ea typeface="微软雅黑" panose="020B0503020204020204" pitchFamily="34" charset="-122"/>
              </a:rPr>
              <a:t>Thermal Process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754BF3E-0AEB-0BEC-976E-51C23ACF72E2}"/>
              </a:ext>
            </a:extLst>
          </p:cNvPr>
          <p:cNvSpPr/>
          <p:nvPr/>
        </p:nvSpPr>
        <p:spPr>
          <a:xfrm>
            <a:off x="3585765" y="4361413"/>
            <a:ext cx="1944001" cy="432001"/>
          </a:xfrm>
          <a:prstGeom prst="rect">
            <a:avLst/>
          </a:prstGeom>
          <a:noFill/>
          <a:ln w="22225">
            <a:solidFill>
              <a:srgbClr val="EE00E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72" noProof="1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DF5C525-E004-ADC3-B584-CCAB4CA5BB9B}"/>
              </a:ext>
            </a:extLst>
          </p:cNvPr>
          <p:cNvSpPr/>
          <p:nvPr/>
        </p:nvSpPr>
        <p:spPr>
          <a:xfrm>
            <a:off x="3585765" y="3735201"/>
            <a:ext cx="1944001" cy="432001"/>
          </a:xfrm>
          <a:prstGeom prst="rect">
            <a:avLst/>
          </a:prstGeom>
          <a:noFill/>
          <a:ln w="22225">
            <a:solidFill>
              <a:srgbClr val="1D41D5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72" noProof="1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8639E5-6133-79BA-05CA-711F8F80CD56}"/>
              </a:ext>
            </a:extLst>
          </p:cNvPr>
          <p:cNvSpPr txBox="1"/>
          <p:nvPr/>
        </p:nvSpPr>
        <p:spPr>
          <a:xfrm>
            <a:off x="3620827" y="4988835"/>
            <a:ext cx="1847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CB8611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Radiative Process</a:t>
            </a:r>
            <a:endParaRPr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D7498D1-6616-EF73-1E2F-B7C45347EDE1}"/>
              </a:ext>
            </a:extLst>
          </p:cNvPr>
          <p:cNvSpPr txBox="1"/>
          <p:nvPr/>
        </p:nvSpPr>
        <p:spPr>
          <a:xfrm>
            <a:off x="3537177" y="3771292"/>
            <a:ext cx="2047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Hydrologic Process</a:t>
            </a:r>
            <a:endParaRPr lang="zh-CN" altLang="en-US" b="1" dirty="0">
              <a:solidFill>
                <a:srgbClr val="1D41D5"/>
              </a:solidFill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9DF6D3D-4022-23D1-523C-71A4392EF43B}"/>
              </a:ext>
            </a:extLst>
          </p:cNvPr>
          <p:cNvSpPr/>
          <p:nvPr/>
        </p:nvSpPr>
        <p:spPr>
          <a:xfrm>
            <a:off x="3590584" y="5578990"/>
            <a:ext cx="1944001" cy="432001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72" noProof="1"/>
          </a:p>
        </p:txBody>
      </p:sp>
      <p:sp>
        <p:nvSpPr>
          <p:cNvPr id="95" name="文本框 207">
            <a:extLst>
              <a:ext uri="{FF2B5EF4-FFF2-40B4-BE49-F238E27FC236}">
                <a16:creationId xmlns:a16="http://schemas.microsoft.com/office/drawing/2014/main" id="{1BCA3B5B-B18F-C47C-851A-C4F8D711606E}"/>
              </a:ext>
            </a:extLst>
          </p:cNvPr>
          <p:cNvSpPr txBox="1"/>
          <p:nvPr/>
        </p:nvSpPr>
        <p:spPr>
          <a:xfrm>
            <a:off x="3549731" y="5618148"/>
            <a:ext cx="1974901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" altLang="zh-CN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Ecological Process</a:t>
            </a:r>
          </a:p>
        </p:txBody>
      </p:sp>
      <p:cxnSp>
        <p:nvCxnSpPr>
          <p:cNvPr id="96" name="直接箭头连接符 344">
            <a:extLst>
              <a:ext uri="{FF2B5EF4-FFF2-40B4-BE49-F238E27FC236}">
                <a16:creationId xmlns:a16="http://schemas.microsoft.com/office/drawing/2014/main" id="{9DC9DF49-1F8F-60E0-AC7D-903F96074E9A}"/>
              </a:ext>
            </a:extLst>
          </p:cNvPr>
          <p:cNvCxnSpPr>
            <a:cxnSpLocks/>
          </p:cNvCxnSpPr>
          <p:nvPr/>
        </p:nvCxnSpPr>
        <p:spPr>
          <a:xfrm>
            <a:off x="10722213" y="8602047"/>
            <a:ext cx="0" cy="542155"/>
          </a:xfrm>
          <a:prstGeom prst="straightConnector1">
            <a:avLst/>
          </a:prstGeom>
          <a:ln w="34925">
            <a:solidFill>
              <a:srgbClr val="1D41D5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97" name="文本框 82">
            <a:extLst>
              <a:ext uri="{FF2B5EF4-FFF2-40B4-BE49-F238E27FC236}">
                <a16:creationId xmlns:a16="http://schemas.microsoft.com/office/drawing/2014/main" id="{2B29A2DE-DC10-2B81-0096-FC70CC354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6222" y="8577517"/>
            <a:ext cx="861075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Recharge</a:t>
            </a:r>
          </a:p>
        </p:txBody>
      </p:sp>
      <p:cxnSp>
        <p:nvCxnSpPr>
          <p:cNvPr id="117" name="直接箭头连接符 111">
            <a:extLst>
              <a:ext uri="{FF2B5EF4-FFF2-40B4-BE49-F238E27FC236}">
                <a16:creationId xmlns:a16="http://schemas.microsoft.com/office/drawing/2014/main" id="{C354AB22-1BE7-0445-1385-3E01CD3DC8E7}"/>
              </a:ext>
            </a:extLst>
          </p:cNvPr>
          <p:cNvCxnSpPr>
            <a:cxnSpLocks/>
          </p:cNvCxnSpPr>
          <p:nvPr/>
        </p:nvCxnSpPr>
        <p:spPr bwMode="auto">
          <a:xfrm flipV="1">
            <a:off x="11313347" y="4454509"/>
            <a:ext cx="0" cy="728422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图片 13">
            <a:extLst>
              <a:ext uri="{FF2B5EF4-FFF2-40B4-BE49-F238E27FC236}">
                <a16:creationId xmlns:a16="http://schemas.microsoft.com/office/drawing/2014/main" id="{921321C6-280B-5AE7-4CCE-8D7042998DA3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2463" y="4965695"/>
            <a:ext cx="756848" cy="75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文本框 15">
            <a:extLst>
              <a:ext uri="{FF2B5EF4-FFF2-40B4-BE49-F238E27FC236}">
                <a16:creationId xmlns:a16="http://schemas.microsoft.com/office/drawing/2014/main" id="{E016D65E-86BB-962F-F5BB-443869AE4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9064" y="4191928"/>
            <a:ext cx="1331470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Evaporation</a:t>
            </a:r>
          </a:p>
        </p:txBody>
      </p:sp>
      <p:cxnSp>
        <p:nvCxnSpPr>
          <p:cNvPr id="120" name="直接箭头连接符 498">
            <a:extLst>
              <a:ext uri="{FF2B5EF4-FFF2-40B4-BE49-F238E27FC236}">
                <a16:creationId xmlns:a16="http://schemas.microsoft.com/office/drawing/2014/main" id="{DF7C041F-0B96-E650-2B01-9B337C185FEA}"/>
              </a:ext>
            </a:extLst>
          </p:cNvPr>
          <p:cNvCxnSpPr>
            <a:cxnSpLocks/>
          </p:cNvCxnSpPr>
          <p:nvPr/>
        </p:nvCxnSpPr>
        <p:spPr>
          <a:xfrm flipV="1">
            <a:off x="10962439" y="3428677"/>
            <a:ext cx="0" cy="776200"/>
          </a:xfrm>
          <a:prstGeom prst="straightConnector1">
            <a:avLst/>
          </a:prstGeom>
          <a:ln w="38100">
            <a:solidFill>
              <a:srgbClr val="EE00E0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21" name="文本框 25">
            <a:extLst>
              <a:ext uri="{FF2B5EF4-FFF2-40B4-BE49-F238E27FC236}">
                <a16:creationId xmlns:a16="http://schemas.microsoft.com/office/drawing/2014/main" id="{C08D9208-1AA1-3E7A-198E-F9CD20987490}"/>
              </a:ext>
            </a:extLst>
          </p:cNvPr>
          <p:cNvSpPr txBox="1"/>
          <p:nvPr/>
        </p:nvSpPr>
        <p:spPr>
          <a:xfrm>
            <a:off x="10311562" y="3104839"/>
            <a:ext cx="1288370" cy="30764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+mn-ea"/>
              </a:rPr>
              <a:t>Sensible Heat</a:t>
            </a:r>
            <a:endParaRPr lang="zh-CN" altLang="en-US" sz="1399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122" name="肘形连接符 19">
            <a:extLst>
              <a:ext uri="{FF2B5EF4-FFF2-40B4-BE49-F238E27FC236}">
                <a16:creationId xmlns:a16="http://schemas.microsoft.com/office/drawing/2014/main" id="{EF1F7B9B-2A7D-9A44-AC83-C8029BFED4A9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11458007" y="4795171"/>
            <a:ext cx="875573" cy="409285"/>
          </a:xfrm>
          <a:prstGeom prst="bentConnector3">
            <a:avLst>
              <a:gd name="adj1" fmla="val 99796"/>
            </a:avLst>
          </a:prstGeom>
          <a:ln w="38100">
            <a:solidFill>
              <a:srgbClr val="1D41D5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文本框 22">
            <a:extLst>
              <a:ext uri="{FF2B5EF4-FFF2-40B4-BE49-F238E27FC236}">
                <a16:creationId xmlns:a16="http://schemas.microsoft.com/office/drawing/2014/main" id="{5FA1B222-2A12-CC1C-0845-7FB59DEE6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8266" y="4459466"/>
            <a:ext cx="1495918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Interception</a:t>
            </a:r>
          </a:p>
        </p:txBody>
      </p:sp>
      <p:sp>
        <p:nvSpPr>
          <p:cNvPr id="124" name="文本框 73">
            <a:extLst>
              <a:ext uri="{FF2B5EF4-FFF2-40B4-BE49-F238E27FC236}">
                <a16:creationId xmlns:a16="http://schemas.microsoft.com/office/drawing/2014/main" id="{3D3D9FA4-753C-C928-02DE-25BFB788B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0212" y="7706144"/>
            <a:ext cx="1476256" cy="307648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Soil Respiration</a:t>
            </a:r>
          </a:p>
        </p:txBody>
      </p:sp>
      <p:sp>
        <p:nvSpPr>
          <p:cNvPr id="125" name="文本框 73">
            <a:extLst>
              <a:ext uri="{FF2B5EF4-FFF2-40B4-BE49-F238E27FC236}">
                <a16:creationId xmlns:a16="http://schemas.microsoft.com/office/drawing/2014/main" id="{51956F87-115F-328F-455D-5118D73F5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825" y="8084068"/>
            <a:ext cx="1476256" cy="307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00B050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Carbon pool</a:t>
            </a:r>
          </a:p>
        </p:txBody>
      </p:sp>
      <p:cxnSp>
        <p:nvCxnSpPr>
          <p:cNvPr id="126" name="直接箭头连接符 109">
            <a:extLst>
              <a:ext uri="{FF2B5EF4-FFF2-40B4-BE49-F238E27FC236}">
                <a16:creationId xmlns:a16="http://schemas.microsoft.com/office/drawing/2014/main" id="{7ACD95A7-CE3F-0425-0D61-7D758148FEC5}"/>
              </a:ext>
            </a:extLst>
          </p:cNvPr>
          <p:cNvCxnSpPr>
            <a:cxnSpLocks/>
          </p:cNvCxnSpPr>
          <p:nvPr/>
        </p:nvCxnSpPr>
        <p:spPr bwMode="auto">
          <a:xfrm>
            <a:off x="10942642" y="5811510"/>
            <a:ext cx="0" cy="677786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5">
            <a:extLst>
              <a:ext uri="{FF2B5EF4-FFF2-40B4-BE49-F238E27FC236}">
                <a16:creationId xmlns:a16="http://schemas.microsoft.com/office/drawing/2014/main" id="{0D65EB7B-5328-A7E6-871C-C7B49FFA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6755" y="6092817"/>
            <a:ext cx="1331470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Throughfall</a:t>
            </a: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608B93EB-29B4-15AF-9AFB-CB0DEC9243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7957" y="7288671"/>
            <a:ext cx="339711" cy="428582"/>
          </a:xfrm>
          <a:prstGeom prst="rect">
            <a:avLst/>
          </a:prstGeom>
        </p:spPr>
      </p:pic>
      <p:sp>
        <p:nvSpPr>
          <p:cNvPr id="129" name="矩形 128">
            <a:extLst>
              <a:ext uri="{FF2B5EF4-FFF2-40B4-BE49-F238E27FC236}">
                <a16:creationId xmlns:a16="http://schemas.microsoft.com/office/drawing/2014/main" id="{C84F91B8-7B88-98C2-30AF-FAC63ADF4477}"/>
              </a:ext>
            </a:extLst>
          </p:cNvPr>
          <p:cNvSpPr/>
          <p:nvPr/>
        </p:nvSpPr>
        <p:spPr>
          <a:xfrm>
            <a:off x="3590584" y="7693289"/>
            <a:ext cx="1462866" cy="1483697"/>
          </a:xfrm>
          <a:prstGeom prst="rect">
            <a:avLst/>
          </a:prstGeom>
          <a:solidFill>
            <a:srgbClr val="DBF1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799" b="1" dirty="0">
              <a:solidFill>
                <a:srgbClr val="E804DB"/>
              </a:solidFill>
            </a:endParaRPr>
          </a:p>
        </p:txBody>
      </p:sp>
      <p:pic>
        <p:nvPicPr>
          <p:cNvPr id="130" name="Picture 2" descr="蓝色卡通冰山装饰图案素材图片免费下载_高清装饰图案png_千库网(图片编号7311138)">
            <a:extLst>
              <a:ext uri="{FF2B5EF4-FFF2-40B4-BE49-F238E27FC236}">
                <a16:creationId xmlns:a16="http://schemas.microsoft.com/office/drawing/2014/main" id="{E189A996-25B6-7358-61BB-741CB6B151E5}"/>
              </a:ext>
            </a:extLst>
          </p:cNvPr>
          <p:cNvPicPr/>
          <p:nvPr/>
        </p:nvPicPr>
        <p:blipFill>
          <a:blip r:embed="rId11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40" y="6392237"/>
            <a:ext cx="1552453" cy="141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1" name="直接箭头连接符 340">
            <a:extLst>
              <a:ext uri="{FF2B5EF4-FFF2-40B4-BE49-F238E27FC236}">
                <a16:creationId xmlns:a16="http://schemas.microsoft.com/office/drawing/2014/main" id="{6E9023FF-3A9E-7652-34CA-BEC25781E006}"/>
              </a:ext>
            </a:extLst>
          </p:cNvPr>
          <p:cNvCxnSpPr>
            <a:cxnSpLocks/>
          </p:cNvCxnSpPr>
          <p:nvPr/>
        </p:nvCxnSpPr>
        <p:spPr>
          <a:xfrm>
            <a:off x="4844082" y="7676445"/>
            <a:ext cx="0" cy="1269015"/>
          </a:xfrm>
          <a:prstGeom prst="straightConnector1">
            <a:avLst/>
          </a:prstGeom>
          <a:ln w="31750">
            <a:solidFill>
              <a:srgbClr val="EE00E0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BE8A016F-4136-30EE-3F8B-97BB1D8B9A67}"/>
              </a:ext>
            </a:extLst>
          </p:cNvPr>
          <p:cNvCxnSpPr>
            <a:cxnSpLocks/>
          </p:cNvCxnSpPr>
          <p:nvPr/>
        </p:nvCxnSpPr>
        <p:spPr>
          <a:xfrm>
            <a:off x="3590584" y="8945454"/>
            <a:ext cx="1437973" cy="0"/>
          </a:xfrm>
          <a:prstGeom prst="line">
            <a:avLst/>
          </a:prstGeom>
          <a:ln w="34925" cmpd="sng">
            <a:solidFill>
              <a:srgbClr val="1D41D5"/>
            </a:solidFill>
            <a:prstDash val="sysDot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E4C32673-CD97-E282-74B2-42B01BB96C50}"/>
              </a:ext>
            </a:extLst>
          </p:cNvPr>
          <p:cNvSpPr txBox="1"/>
          <p:nvPr/>
        </p:nvSpPr>
        <p:spPr>
          <a:xfrm>
            <a:off x="3536566" y="8903655"/>
            <a:ext cx="1051824" cy="307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P</a:t>
            </a:r>
            <a:r>
              <a:rPr lang="zh-CN" altLang="en-US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ermafrost</a:t>
            </a:r>
          </a:p>
        </p:txBody>
      </p:sp>
      <p:sp>
        <p:nvSpPr>
          <p:cNvPr id="134" name="文本框 12">
            <a:extLst>
              <a:ext uri="{FF2B5EF4-FFF2-40B4-BE49-F238E27FC236}">
                <a16:creationId xmlns:a16="http://schemas.microsoft.com/office/drawing/2014/main" id="{96AD0B2D-F524-A024-32A0-730CC3BB3143}"/>
              </a:ext>
            </a:extLst>
          </p:cNvPr>
          <p:cNvSpPr txBox="1"/>
          <p:nvPr/>
        </p:nvSpPr>
        <p:spPr>
          <a:xfrm>
            <a:off x="3640143" y="7713300"/>
            <a:ext cx="854340" cy="30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99" b="1" dirty="0"/>
              <a:t>Ice L</a:t>
            </a:r>
            <a:r>
              <a:rPr lang="en" altLang="zh-CN" sz="1399" b="1" dirty="0"/>
              <a:t>ayer</a:t>
            </a:r>
            <a:endParaRPr lang="zh-CN" altLang="en-US" sz="1399" b="1" dirty="0"/>
          </a:p>
        </p:txBody>
      </p:sp>
      <p:sp>
        <p:nvSpPr>
          <p:cNvPr id="135" name="文本框 33">
            <a:extLst>
              <a:ext uri="{FF2B5EF4-FFF2-40B4-BE49-F238E27FC236}">
                <a16:creationId xmlns:a16="http://schemas.microsoft.com/office/drawing/2014/main" id="{96AE160E-E4C0-4D15-50F9-13A3B5BA57C9}"/>
              </a:ext>
            </a:extLst>
          </p:cNvPr>
          <p:cNvSpPr txBox="1"/>
          <p:nvPr/>
        </p:nvSpPr>
        <p:spPr>
          <a:xfrm>
            <a:off x="4108689" y="8077072"/>
            <a:ext cx="785728" cy="52296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Heat</a:t>
            </a:r>
          </a:p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Transfer</a:t>
            </a:r>
            <a:endParaRPr lang="zh-CN" altLang="en-US" sz="1399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pic>
        <p:nvPicPr>
          <p:cNvPr id="136" name="图片 81">
            <a:extLst>
              <a:ext uri="{FF2B5EF4-FFF2-40B4-BE49-F238E27FC236}">
                <a16:creationId xmlns:a16="http://schemas.microsoft.com/office/drawing/2014/main" id="{3036FEF8-9E92-22D4-282A-438DAF988B1D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028" y="7103043"/>
            <a:ext cx="376500" cy="41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" name="文本框 82">
            <a:extLst>
              <a:ext uri="{FF2B5EF4-FFF2-40B4-BE49-F238E27FC236}">
                <a16:creationId xmlns:a16="http://schemas.microsoft.com/office/drawing/2014/main" id="{11251A5B-F747-D0ED-B66D-65C66D290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476" y="6886192"/>
            <a:ext cx="800941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Freeze</a:t>
            </a:r>
          </a:p>
        </p:txBody>
      </p:sp>
      <p:sp>
        <p:nvSpPr>
          <p:cNvPr id="138" name="文本框 83">
            <a:extLst>
              <a:ext uri="{FF2B5EF4-FFF2-40B4-BE49-F238E27FC236}">
                <a16:creationId xmlns:a16="http://schemas.microsoft.com/office/drawing/2014/main" id="{440AD14A-D9E2-E8C0-1E3D-70CC0EDF5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7" y="7232474"/>
            <a:ext cx="557990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Melt</a:t>
            </a:r>
          </a:p>
        </p:txBody>
      </p:sp>
      <p:cxnSp>
        <p:nvCxnSpPr>
          <p:cNvPr id="139" name="直接箭头连接符 96">
            <a:extLst>
              <a:ext uri="{FF2B5EF4-FFF2-40B4-BE49-F238E27FC236}">
                <a16:creationId xmlns:a16="http://schemas.microsoft.com/office/drawing/2014/main" id="{E34ACF7E-4B34-050A-4778-B49505899FBC}"/>
              </a:ext>
            </a:extLst>
          </p:cNvPr>
          <p:cNvCxnSpPr>
            <a:cxnSpLocks/>
          </p:cNvCxnSpPr>
          <p:nvPr/>
        </p:nvCxnSpPr>
        <p:spPr bwMode="auto">
          <a:xfrm>
            <a:off x="4486552" y="7487451"/>
            <a:ext cx="0" cy="216867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25">
            <a:extLst>
              <a:ext uri="{FF2B5EF4-FFF2-40B4-BE49-F238E27FC236}">
                <a16:creationId xmlns:a16="http://schemas.microsoft.com/office/drawing/2014/main" id="{F621E130-03A0-42B4-546A-F243B4B1E5F9}"/>
              </a:ext>
            </a:extLst>
          </p:cNvPr>
          <p:cNvSpPr txBox="1"/>
          <p:nvPr/>
        </p:nvSpPr>
        <p:spPr>
          <a:xfrm>
            <a:off x="2823223" y="6343508"/>
            <a:ext cx="14762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Glacial 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Reflection</a:t>
            </a:r>
            <a:r>
              <a:rPr lang="en-US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&amp;</a:t>
            </a:r>
          </a:p>
          <a:p>
            <a:pPr algn="ctr"/>
            <a:r>
              <a:rPr lang="en" altLang="zh-CN" sz="1200" b="1" dirty="0">
                <a:solidFill>
                  <a:srgbClr val="CB8611"/>
                </a:solidFill>
                <a:cs typeface="Calibri" panose="020F0502020204030204" pitchFamily="34" charset="0"/>
              </a:rPr>
              <a:t>Absorption</a:t>
            </a:r>
            <a:endParaRPr lang="zh-CN" altLang="en-US" sz="1200" b="1" dirty="0">
              <a:solidFill>
                <a:srgbClr val="CB8611"/>
              </a:solidFill>
              <a:cs typeface="Calibri" panose="020F0502020204030204" pitchFamily="34" charset="0"/>
            </a:endParaRPr>
          </a:p>
        </p:txBody>
      </p:sp>
      <p:cxnSp>
        <p:nvCxnSpPr>
          <p:cNvPr id="141" name="直接箭头连接符 496">
            <a:extLst>
              <a:ext uri="{FF2B5EF4-FFF2-40B4-BE49-F238E27FC236}">
                <a16:creationId xmlns:a16="http://schemas.microsoft.com/office/drawing/2014/main" id="{FD635790-ACD0-B721-128A-07EB78ACA82C}"/>
              </a:ext>
            </a:extLst>
          </p:cNvPr>
          <p:cNvCxnSpPr>
            <a:cxnSpLocks/>
          </p:cNvCxnSpPr>
          <p:nvPr/>
        </p:nvCxnSpPr>
        <p:spPr>
          <a:xfrm flipH="1" flipV="1">
            <a:off x="3365685" y="7023760"/>
            <a:ext cx="336555" cy="343889"/>
          </a:xfrm>
          <a:prstGeom prst="straightConnector1">
            <a:avLst/>
          </a:prstGeom>
          <a:ln w="41275">
            <a:solidFill>
              <a:srgbClr val="CB86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496">
            <a:extLst>
              <a:ext uri="{FF2B5EF4-FFF2-40B4-BE49-F238E27FC236}">
                <a16:creationId xmlns:a16="http://schemas.microsoft.com/office/drawing/2014/main" id="{B05408D3-EBCD-3426-AEEA-1FC7132FAB9E}"/>
              </a:ext>
            </a:extLst>
          </p:cNvPr>
          <p:cNvCxnSpPr>
            <a:cxnSpLocks/>
          </p:cNvCxnSpPr>
          <p:nvPr/>
        </p:nvCxnSpPr>
        <p:spPr>
          <a:xfrm>
            <a:off x="3702137" y="6980617"/>
            <a:ext cx="0" cy="704205"/>
          </a:xfrm>
          <a:prstGeom prst="straightConnector1">
            <a:avLst/>
          </a:prstGeom>
          <a:ln w="41275">
            <a:solidFill>
              <a:srgbClr val="CB86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89">
            <a:extLst>
              <a:ext uri="{FF2B5EF4-FFF2-40B4-BE49-F238E27FC236}">
                <a16:creationId xmlns:a16="http://schemas.microsoft.com/office/drawing/2014/main" id="{FE61258C-7A93-ECAF-4226-677DF015C1D6}"/>
              </a:ext>
            </a:extLst>
          </p:cNvPr>
          <p:cNvCxnSpPr>
            <a:cxnSpLocks/>
          </p:cNvCxnSpPr>
          <p:nvPr/>
        </p:nvCxnSpPr>
        <p:spPr bwMode="auto">
          <a:xfrm flipV="1">
            <a:off x="4474485" y="6698140"/>
            <a:ext cx="0" cy="423407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7">
            <a:extLst>
              <a:ext uri="{FF2B5EF4-FFF2-40B4-BE49-F238E27FC236}">
                <a16:creationId xmlns:a16="http://schemas.microsoft.com/office/drawing/2014/main" id="{14D1DF60-BD30-CB73-2588-54098F2CE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7346" y="6360153"/>
            <a:ext cx="1287464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399" b="1" dirty="0">
                <a:solidFill>
                  <a:srgbClr val="1D41D5"/>
                </a:solidFill>
                <a:cs typeface="Calibri" panose="020F0502020204030204" pitchFamily="34" charset="0"/>
              </a:rPr>
              <a:t>Sublimation</a:t>
            </a: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896BAEA-5DDE-3CE6-7B50-CA2D00FCD06B}"/>
              </a:ext>
            </a:extLst>
          </p:cNvPr>
          <p:cNvCxnSpPr>
            <a:cxnSpLocks/>
          </p:cNvCxnSpPr>
          <p:nvPr/>
        </p:nvCxnSpPr>
        <p:spPr>
          <a:xfrm flipV="1">
            <a:off x="14641159" y="7002049"/>
            <a:ext cx="0" cy="709438"/>
          </a:xfrm>
          <a:prstGeom prst="straightConnector1">
            <a:avLst/>
          </a:prstGeom>
          <a:ln w="28575">
            <a:solidFill>
              <a:srgbClr val="0202FE"/>
            </a:solidFill>
            <a:headEnd type="none"/>
            <a:tailEnd type="non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CDE5A7C-C37C-8F5F-4BB9-7797B114CA74}"/>
              </a:ext>
            </a:extLst>
          </p:cNvPr>
          <p:cNvCxnSpPr>
            <a:cxnSpLocks/>
          </p:cNvCxnSpPr>
          <p:nvPr/>
        </p:nvCxnSpPr>
        <p:spPr>
          <a:xfrm>
            <a:off x="15768737" y="9438460"/>
            <a:ext cx="2713495" cy="20518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39">
            <a:extLst>
              <a:ext uri="{FF2B5EF4-FFF2-40B4-BE49-F238E27FC236}">
                <a16:creationId xmlns:a16="http://schemas.microsoft.com/office/drawing/2014/main" id="{2F62DF70-CD77-F773-DEAC-3A2E480614D7}"/>
              </a:ext>
            </a:extLst>
          </p:cNvPr>
          <p:cNvSpPr txBox="1"/>
          <p:nvPr/>
        </p:nvSpPr>
        <p:spPr>
          <a:xfrm>
            <a:off x="15920001" y="9160517"/>
            <a:ext cx="1033881" cy="30764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" altLang="zh-CN" sz="1399" b="1" dirty="0">
                <a:ea typeface="微软雅黑" panose="020B0503020204020204" pitchFamily="34" charset="-122"/>
                <a:cs typeface="Calibri" panose="020F0502020204030204" pitchFamily="34" charset="0"/>
              </a:rPr>
              <a:t>Permeable</a:t>
            </a:r>
            <a:endParaRPr lang="zh-CN" altLang="en-US" sz="1399" b="1" dirty="0"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8" name="文本框 38">
            <a:extLst>
              <a:ext uri="{FF2B5EF4-FFF2-40B4-BE49-F238E27FC236}">
                <a16:creationId xmlns:a16="http://schemas.microsoft.com/office/drawing/2014/main" id="{A04C5E7B-1411-DB10-8EC8-01E555BF96FC}"/>
              </a:ext>
            </a:extLst>
          </p:cNvPr>
          <p:cNvSpPr txBox="1"/>
          <p:nvPr/>
        </p:nvSpPr>
        <p:spPr>
          <a:xfrm>
            <a:off x="17216196" y="9147596"/>
            <a:ext cx="1185781" cy="30764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en" altLang="zh-CN" sz="1399" b="1" dirty="0">
                <a:ea typeface="微软雅黑" panose="020B0503020204020204" pitchFamily="34" charset="-122"/>
                <a:cs typeface="Calibri" panose="020F0502020204030204" pitchFamily="34" charset="0"/>
              </a:rPr>
              <a:t>Impermeable</a:t>
            </a:r>
            <a:endParaRPr lang="zh-CN" altLang="en-US" sz="1399" b="1" dirty="0"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AC5DBBE-BBD6-E143-A795-16E94F8888E8}"/>
              </a:ext>
            </a:extLst>
          </p:cNvPr>
          <p:cNvSpPr/>
          <p:nvPr/>
        </p:nvSpPr>
        <p:spPr>
          <a:xfrm>
            <a:off x="16020018" y="6338905"/>
            <a:ext cx="445106" cy="134804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FDA7CB4-66AC-81DD-2946-AC56DBB9164D}"/>
              </a:ext>
            </a:extLst>
          </p:cNvPr>
          <p:cNvSpPr/>
          <p:nvPr/>
        </p:nvSpPr>
        <p:spPr>
          <a:xfrm>
            <a:off x="17681511" y="6379725"/>
            <a:ext cx="445106" cy="131223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BB8005E-BA1B-FA6B-BBA2-D9CA9F424955}"/>
              </a:ext>
            </a:extLst>
          </p:cNvPr>
          <p:cNvSpPr/>
          <p:nvPr/>
        </p:nvSpPr>
        <p:spPr>
          <a:xfrm>
            <a:off x="17683896" y="6036885"/>
            <a:ext cx="772305" cy="34283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681A6D33-2F4B-F5CB-0AA1-25A676B0B343}"/>
              </a:ext>
            </a:extLst>
          </p:cNvPr>
          <p:cNvSpPr/>
          <p:nvPr/>
        </p:nvSpPr>
        <p:spPr>
          <a:xfrm>
            <a:off x="15694988" y="5996889"/>
            <a:ext cx="772305" cy="34283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>
            <a:solidFill>
              <a:sysClr val="windowText" lastClr="000000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fontAlgn="base"/>
            <a:endParaRPr lang="zh-CN" altLang="en-US" sz="1399" noProof="1">
              <a:cs typeface="Calibri" panose="020F0502020204030204" pitchFamily="34" charset="0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8AD9F5EC-F57D-FF6A-15A8-5F765C26A538}"/>
              </a:ext>
            </a:extLst>
          </p:cNvPr>
          <p:cNvCxnSpPr>
            <a:cxnSpLocks/>
          </p:cNvCxnSpPr>
          <p:nvPr/>
        </p:nvCxnSpPr>
        <p:spPr>
          <a:xfrm flipH="1">
            <a:off x="15422789" y="5990241"/>
            <a:ext cx="873544" cy="0"/>
          </a:xfrm>
          <a:prstGeom prst="straightConnector1">
            <a:avLst/>
          </a:prstGeom>
          <a:ln w="28575">
            <a:solidFill>
              <a:srgbClr val="0202FE"/>
            </a:solidFill>
            <a:headEnd type="none"/>
            <a:tailEnd type="non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53B620C-03FA-18E8-1488-57D9A92EC059}"/>
              </a:ext>
            </a:extLst>
          </p:cNvPr>
          <p:cNvCxnSpPr>
            <a:cxnSpLocks/>
          </p:cNvCxnSpPr>
          <p:nvPr/>
        </p:nvCxnSpPr>
        <p:spPr>
          <a:xfrm>
            <a:off x="15418308" y="5976958"/>
            <a:ext cx="0" cy="1719519"/>
          </a:xfrm>
          <a:prstGeom prst="straightConnector1">
            <a:avLst/>
          </a:prstGeom>
          <a:ln w="34925">
            <a:solidFill>
              <a:srgbClr val="0202FE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55" name="文本框 112">
            <a:extLst>
              <a:ext uri="{FF2B5EF4-FFF2-40B4-BE49-F238E27FC236}">
                <a16:creationId xmlns:a16="http://schemas.microsoft.com/office/drawing/2014/main" id="{3FE67B82-B6A2-0C58-1F4A-B0F63AF3ED15}"/>
              </a:ext>
            </a:extLst>
          </p:cNvPr>
          <p:cNvSpPr txBox="1"/>
          <p:nvPr/>
        </p:nvSpPr>
        <p:spPr>
          <a:xfrm>
            <a:off x="15330340" y="5699491"/>
            <a:ext cx="1135460" cy="30764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" altLang="zh-CN" sz="1399" b="1" dirty="0">
                <a:solidFill>
                  <a:srgbClr val="0202FE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Roof Runoff</a:t>
            </a:r>
            <a:endParaRPr lang="zh-CN" altLang="en-US" sz="1399" b="1" dirty="0">
              <a:solidFill>
                <a:srgbClr val="0202FE"/>
              </a:solidFill>
              <a:ea typeface="微软雅黑" panose="020B0503020204020204" pitchFamily="34" charset="-122"/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CD45E0E-5578-F65B-2DDD-352DB7E28B86}"/>
              </a:ext>
            </a:extLst>
          </p:cNvPr>
          <p:cNvCxnSpPr>
            <a:cxnSpLocks/>
          </p:cNvCxnSpPr>
          <p:nvPr/>
        </p:nvCxnSpPr>
        <p:spPr>
          <a:xfrm flipV="1">
            <a:off x="15653150" y="7580675"/>
            <a:ext cx="1093614" cy="5002"/>
          </a:xfrm>
          <a:prstGeom prst="straightConnector1">
            <a:avLst/>
          </a:prstGeom>
          <a:ln w="38100">
            <a:solidFill>
              <a:srgbClr val="0202FE"/>
            </a:solidFill>
            <a:headEnd type="arrow"/>
            <a:tailEnd type="none" w="med" len="med"/>
          </a:ln>
        </p:spPr>
        <p:style>
          <a:lnRef idx="3">
            <a:sysClr val="windowText" lastClr="000000"/>
          </a:lnRef>
          <a:fillRef idx="0">
            <a:sysClr val="windowText" lastClr="000000"/>
          </a:fillRef>
          <a:effectRef idx="2">
            <a:sysClr val="windowText" lastClr="000000"/>
          </a:effectRef>
          <a:fontRef idx="minor">
            <a:sysClr val="windowText" lastClr="000000"/>
          </a:fontRef>
        </p:style>
      </p:cxnSp>
      <p:sp>
        <p:nvSpPr>
          <p:cNvPr id="157" name="文本框 46">
            <a:extLst>
              <a:ext uri="{FF2B5EF4-FFF2-40B4-BE49-F238E27FC236}">
                <a16:creationId xmlns:a16="http://schemas.microsoft.com/office/drawing/2014/main" id="{143A9513-1F78-B793-FF61-FAFBC7985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12770" y="7272866"/>
            <a:ext cx="1312951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Surface runoff</a:t>
            </a:r>
          </a:p>
        </p:txBody>
      </p:sp>
      <p:pic>
        <p:nvPicPr>
          <p:cNvPr id="158" name="图片 13">
            <a:extLst>
              <a:ext uri="{FF2B5EF4-FFF2-40B4-BE49-F238E27FC236}">
                <a16:creationId xmlns:a16="http://schemas.microsoft.com/office/drawing/2014/main" id="{9CB0D027-1760-7949-34D9-5CA49D14BD51}"/>
              </a:ext>
            </a:extLst>
          </p:cNvPr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39667" y="7459683"/>
            <a:ext cx="274334" cy="27433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9" name="图片 121">
            <a:extLst>
              <a:ext uri="{FF2B5EF4-FFF2-40B4-BE49-F238E27FC236}">
                <a16:creationId xmlns:a16="http://schemas.microsoft.com/office/drawing/2014/main" id="{4E5CD041-E873-138A-6099-7217747FAB15}"/>
              </a:ext>
            </a:extLst>
          </p:cNvPr>
          <p:cNvPicPr>
            <a:picLocks noGrp="1"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82976" y="5854421"/>
            <a:ext cx="237969" cy="2033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0" name="文本框 122">
            <a:extLst>
              <a:ext uri="{FF2B5EF4-FFF2-40B4-BE49-F238E27FC236}">
                <a16:creationId xmlns:a16="http://schemas.microsoft.com/office/drawing/2014/main" id="{A86F41CD-1FD0-BDCB-80AF-2C1A7A61CEBC}"/>
              </a:ext>
            </a:extLst>
          </p:cNvPr>
          <p:cNvSpPr txBox="1"/>
          <p:nvPr/>
        </p:nvSpPr>
        <p:spPr>
          <a:xfrm>
            <a:off x="16811836" y="7700441"/>
            <a:ext cx="116999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Ponding</a:t>
            </a:r>
          </a:p>
        </p:txBody>
      </p:sp>
      <p:sp>
        <p:nvSpPr>
          <p:cNvPr id="161" name="文本框 122">
            <a:extLst>
              <a:ext uri="{FF2B5EF4-FFF2-40B4-BE49-F238E27FC236}">
                <a16:creationId xmlns:a16="http://schemas.microsoft.com/office/drawing/2014/main" id="{E314CEDE-42B2-67A5-8E30-421A49F46FC3}"/>
              </a:ext>
            </a:extLst>
          </p:cNvPr>
          <p:cNvSpPr txBox="1"/>
          <p:nvPr/>
        </p:nvSpPr>
        <p:spPr>
          <a:xfrm>
            <a:off x="17607434" y="6024629"/>
            <a:ext cx="116999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1D5"/>
                </a:solidFill>
                <a:ea typeface="微软雅黑" panose="020B0503020204020204" pitchFamily="34" charset="-122"/>
                <a:cs typeface="Calibri" panose="020F0502020204030204" pitchFamily="34" charset="0"/>
                <a:sym typeface="微软雅黑" panose="020B0503020204020204" pitchFamily="34" charset="-122"/>
              </a:rPr>
              <a:t>Ponding</a:t>
            </a:r>
          </a:p>
        </p:txBody>
      </p:sp>
      <p:sp>
        <p:nvSpPr>
          <p:cNvPr id="162" name="文本框 40">
            <a:extLst>
              <a:ext uri="{FF2B5EF4-FFF2-40B4-BE49-F238E27FC236}">
                <a16:creationId xmlns:a16="http://schemas.microsoft.com/office/drawing/2014/main" id="{6B7927FB-30CF-82B4-ED73-124D56D466B4}"/>
              </a:ext>
            </a:extLst>
          </p:cNvPr>
          <p:cNvSpPr txBox="1"/>
          <p:nvPr/>
        </p:nvSpPr>
        <p:spPr>
          <a:xfrm>
            <a:off x="15970786" y="6045394"/>
            <a:ext cx="530979" cy="30764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1399" b="1" dirty="0">
                <a:cs typeface="Calibri" panose="020F0502020204030204" pitchFamily="34" charset="0"/>
                <a:sym typeface="微软雅黑" panose="020B0503020204020204" pitchFamily="34" charset="-122"/>
              </a:rPr>
              <a:t>Roof</a:t>
            </a:r>
            <a:endParaRPr lang="zh-CN" altLang="en-US" sz="1399" b="1" dirty="0"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63" name="文本框 42">
            <a:extLst>
              <a:ext uri="{FF2B5EF4-FFF2-40B4-BE49-F238E27FC236}">
                <a16:creationId xmlns:a16="http://schemas.microsoft.com/office/drawing/2014/main" id="{DA616360-B28E-94FD-80F7-4C8044A76558}"/>
              </a:ext>
            </a:extLst>
          </p:cNvPr>
          <p:cNvSpPr txBox="1"/>
          <p:nvPr/>
        </p:nvSpPr>
        <p:spPr>
          <a:xfrm>
            <a:off x="15983875" y="6390356"/>
            <a:ext cx="521297" cy="4306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1099" b="1" dirty="0">
                <a:cs typeface="Calibri" panose="020F0502020204030204" pitchFamily="34" charset="0"/>
                <a:sym typeface="微软雅黑" panose="020B0503020204020204" pitchFamily="34" charset="-122"/>
              </a:rPr>
              <a:t>Sunlit</a:t>
            </a:r>
          </a:p>
          <a:p>
            <a:pPr algn="ctr"/>
            <a:r>
              <a:rPr lang="en-US" altLang="zh-CN" sz="1099" b="1" dirty="0">
                <a:cs typeface="Calibri" panose="020F0502020204030204" pitchFamily="34" charset="0"/>
                <a:sym typeface="微软雅黑" panose="020B0503020204020204" pitchFamily="34" charset="-122"/>
              </a:rPr>
              <a:t>Side</a:t>
            </a:r>
            <a:endParaRPr lang="zh-CN" altLang="en-US" sz="1099" b="1" dirty="0"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64" name="文本框 42">
            <a:extLst>
              <a:ext uri="{FF2B5EF4-FFF2-40B4-BE49-F238E27FC236}">
                <a16:creationId xmlns:a16="http://schemas.microsoft.com/office/drawing/2014/main" id="{B46670C2-1EB6-C8A6-8DD8-FD33C9157AD9}"/>
              </a:ext>
            </a:extLst>
          </p:cNvPr>
          <p:cNvSpPr txBox="1"/>
          <p:nvPr/>
        </p:nvSpPr>
        <p:spPr>
          <a:xfrm>
            <a:off x="17603535" y="6424366"/>
            <a:ext cx="617477" cy="4306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" altLang="zh-CN" sz="1099" b="1" dirty="0">
                <a:solidFill>
                  <a:srgbClr val="404040"/>
                </a:solidFill>
              </a:rPr>
              <a:t>Shaded</a:t>
            </a:r>
            <a:endParaRPr lang="en-US" altLang="zh-CN" sz="1099" b="1" dirty="0">
              <a:cs typeface="Calibri" panose="020F0502020204030204" pitchFamily="34" charset="0"/>
              <a:sym typeface="微软雅黑" panose="020B0503020204020204" pitchFamily="34" charset="-122"/>
            </a:endParaRPr>
          </a:p>
          <a:p>
            <a:pPr algn="ctr"/>
            <a:r>
              <a:rPr lang="en-US" altLang="zh-CN" sz="1099" b="1" dirty="0">
                <a:cs typeface="Calibri" panose="020F0502020204030204" pitchFamily="34" charset="0"/>
                <a:sym typeface="微软雅黑" panose="020B0503020204020204" pitchFamily="34" charset="-122"/>
              </a:rPr>
              <a:t>Side</a:t>
            </a:r>
            <a:endParaRPr lang="zh-CN" altLang="en-US" sz="1099" b="1" dirty="0"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cxnSp>
        <p:nvCxnSpPr>
          <p:cNvPr id="165" name="直接箭头连接符 96">
            <a:extLst>
              <a:ext uri="{FF2B5EF4-FFF2-40B4-BE49-F238E27FC236}">
                <a16:creationId xmlns:a16="http://schemas.microsoft.com/office/drawing/2014/main" id="{43B1F94A-AC3F-4ACA-7A0D-DCCB1BC83CDD}"/>
              </a:ext>
            </a:extLst>
          </p:cNvPr>
          <p:cNvCxnSpPr>
            <a:cxnSpLocks/>
          </p:cNvCxnSpPr>
          <p:nvPr/>
        </p:nvCxnSpPr>
        <p:spPr bwMode="auto">
          <a:xfrm>
            <a:off x="16940480" y="7288506"/>
            <a:ext cx="0" cy="403455"/>
          </a:xfrm>
          <a:prstGeom prst="straightConnector1">
            <a:avLst/>
          </a:prstGeom>
          <a:ln w="38100">
            <a:solidFill>
              <a:srgbClr val="1D41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9">
            <a:extLst>
              <a:ext uri="{FF2B5EF4-FFF2-40B4-BE49-F238E27FC236}">
                <a16:creationId xmlns:a16="http://schemas.microsoft.com/office/drawing/2014/main" id="{9C4D48D5-61FE-265C-16D0-E2C194509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9967" y="7033017"/>
            <a:ext cx="1061571" cy="30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399" b="1" dirty="0">
                <a:solidFill>
                  <a:srgbClr val="1D41D5"/>
                </a:solidFill>
                <a:ea typeface="楷体" panose="02010609060101010101" pitchFamily="49" charset="-122"/>
                <a:cs typeface="Calibri" panose="020F0502020204030204" pitchFamily="34" charset="0"/>
              </a:rPr>
              <a:t>Infiltration</a:t>
            </a: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9ED91C8D-F30F-00C3-EB89-7B411BE91652}"/>
              </a:ext>
            </a:extLst>
          </p:cNvPr>
          <p:cNvCxnSpPr/>
          <p:nvPr/>
        </p:nvCxnSpPr>
        <p:spPr>
          <a:xfrm flipH="1" flipV="1">
            <a:off x="17499857" y="6667034"/>
            <a:ext cx="188719" cy="158477"/>
          </a:xfrm>
          <a:prstGeom prst="straightConnector1">
            <a:avLst/>
          </a:prstGeom>
          <a:ln w="25400">
            <a:solidFill>
              <a:srgbClr val="CB8611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56ED2A48-740F-D2DC-774D-89F52F377592}"/>
              </a:ext>
            </a:extLst>
          </p:cNvPr>
          <p:cNvCxnSpPr/>
          <p:nvPr/>
        </p:nvCxnSpPr>
        <p:spPr>
          <a:xfrm flipH="1">
            <a:off x="17427272" y="6837605"/>
            <a:ext cx="273401" cy="0"/>
          </a:xfrm>
          <a:prstGeom prst="straightConnector1">
            <a:avLst/>
          </a:prstGeom>
          <a:ln w="25400">
            <a:solidFill>
              <a:srgbClr val="CB8611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91D0598C-EE3D-413C-B734-B19CEF3E1F23}"/>
              </a:ext>
            </a:extLst>
          </p:cNvPr>
          <p:cNvCxnSpPr/>
          <p:nvPr/>
        </p:nvCxnSpPr>
        <p:spPr>
          <a:xfrm flipH="1">
            <a:off x="17486547" y="6848492"/>
            <a:ext cx="209284" cy="135492"/>
          </a:xfrm>
          <a:prstGeom prst="straightConnector1">
            <a:avLst/>
          </a:prstGeom>
          <a:ln w="25400">
            <a:solidFill>
              <a:srgbClr val="CB8611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grpSp>
        <p:nvGrpSpPr>
          <p:cNvPr id="170" name="组合 133">
            <a:extLst>
              <a:ext uri="{FF2B5EF4-FFF2-40B4-BE49-F238E27FC236}">
                <a16:creationId xmlns:a16="http://schemas.microsoft.com/office/drawing/2014/main" id="{CF69586B-8EE9-DEE7-8FB6-866406D58CF4}"/>
              </a:ext>
            </a:extLst>
          </p:cNvPr>
          <p:cNvGrpSpPr/>
          <p:nvPr/>
        </p:nvGrpSpPr>
        <p:grpSpPr>
          <a:xfrm>
            <a:off x="16490254" y="6668891"/>
            <a:ext cx="237108" cy="333888"/>
            <a:chOff x="3784" y="2760"/>
            <a:chExt cx="491" cy="690"/>
          </a:xfrm>
        </p:grpSpPr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65F79C17-4743-E430-F0EA-18C4EC60F7F0}"/>
                </a:ext>
              </a:extLst>
            </p:cNvPr>
            <p:cNvCxnSpPr/>
            <p:nvPr/>
          </p:nvCxnSpPr>
          <p:spPr>
            <a:xfrm flipV="1">
              <a:off x="3789" y="2760"/>
              <a:ext cx="414" cy="338"/>
            </a:xfrm>
            <a:prstGeom prst="straightConnector1">
              <a:avLst/>
            </a:prstGeom>
            <a:ln w="25400">
              <a:solidFill>
                <a:srgbClr val="CB8611"/>
              </a:solidFill>
              <a:tailEnd type="arrow"/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2CA969AB-B4C5-C7DC-2FF7-9F772892C1E6}"/>
                </a:ext>
              </a:extLst>
            </p:cNvPr>
            <p:cNvCxnSpPr/>
            <p:nvPr/>
          </p:nvCxnSpPr>
          <p:spPr>
            <a:xfrm>
              <a:off x="3784" y="3098"/>
              <a:ext cx="491" cy="22"/>
            </a:xfrm>
            <a:prstGeom prst="straightConnector1">
              <a:avLst/>
            </a:prstGeom>
            <a:ln w="25400">
              <a:solidFill>
                <a:srgbClr val="CB8611"/>
              </a:solidFill>
              <a:tailEnd type="arrow"/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6851D050-5DA6-AFF2-E079-E5F6FB1F0C80}"/>
                </a:ext>
              </a:extLst>
            </p:cNvPr>
            <p:cNvCxnSpPr/>
            <p:nvPr/>
          </p:nvCxnSpPr>
          <p:spPr>
            <a:xfrm>
              <a:off x="3802" y="3111"/>
              <a:ext cx="415" cy="339"/>
            </a:xfrm>
            <a:prstGeom prst="straightConnector1">
              <a:avLst/>
            </a:prstGeom>
            <a:ln w="25400">
              <a:solidFill>
                <a:srgbClr val="CB8611"/>
              </a:solidFill>
              <a:tailEnd type="arrow"/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</p:grpSp>
      <p:sp>
        <p:nvSpPr>
          <p:cNvPr id="174" name="文本框 173">
            <a:extLst>
              <a:ext uri="{FF2B5EF4-FFF2-40B4-BE49-F238E27FC236}">
                <a16:creationId xmlns:a16="http://schemas.microsoft.com/office/drawing/2014/main" id="{74012316-14B2-22CD-6853-3D9BEEE8804A}"/>
              </a:ext>
            </a:extLst>
          </p:cNvPr>
          <p:cNvSpPr txBox="1"/>
          <p:nvPr/>
        </p:nvSpPr>
        <p:spPr>
          <a:xfrm>
            <a:off x="16654287" y="6458812"/>
            <a:ext cx="87164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50" b="1" dirty="0">
                <a:solidFill>
                  <a:srgbClr val="CB8611"/>
                </a:solidFill>
                <a:cs typeface="Calibri" panose="020F0502020204030204" pitchFamily="34" charset="0"/>
              </a:rPr>
              <a:t>Multiple</a:t>
            </a:r>
            <a:r>
              <a:rPr lang="zh-CN" altLang="en-US" sz="1050" b="1" dirty="0">
                <a:solidFill>
                  <a:srgbClr val="CB8611"/>
                </a:solidFill>
                <a:cs typeface="Calibri" panose="020F0502020204030204" pitchFamily="34" charset="0"/>
              </a:rPr>
              <a:t> </a:t>
            </a:r>
            <a:r>
              <a:rPr lang="en" altLang="zh-CN" sz="1050" b="1" dirty="0">
                <a:solidFill>
                  <a:srgbClr val="CB8611"/>
                </a:solidFill>
                <a:cs typeface="Calibri" panose="020F0502020204030204" pitchFamily="34" charset="0"/>
              </a:rPr>
              <a:t>Reflection</a:t>
            </a:r>
            <a:r>
              <a:rPr lang="zh-CN" altLang="en-US" sz="1050" b="1" dirty="0">
                <a:solidFill>
                  <a:srgbClr val="CB8611"/>
                </a:solidFill>
                <a:cs typeface="Calibri" panose="020F0502020204030204" pitchFamily="34" charset="0"/>
              </a:rPr>
              <a:t> </a:t>
            </a:r>
            <a:r>
              <a:rPr lang="en-US" altLang="zh-CN" sz="1050" b="1" dirty="0">
                <a:solidFill>
                  <a:srgbClr val="CB8611"/>
                </a:solidFill>
                <a:cs typeface="Calibri" panose="020F0502020204030204" pitchFamily="34" charset="0"/>
              </a:rPr>
              <a:t>&amp;</a:t>
            </a:r>
            <a:r>
              <a:rPr lang="zh-CN" altLang="en-US" sz="1050" b="1" dirty="0">
                <a:solidFill>
                  <a:srgbClr val="CB8611"/>
                </a:solidFill>
                <a:cs typeface="Calibri" panose="020F0502020204030204" pitchFamily="34" charset="0"/>
              </a:rPr>
              <a:t> </a:t>
            </a:r>
            <a:r>
              <a:rPr lang="en" altLang="zh-CN" sz="1050" b="1" dirty="0">
                <a:solidFill>
                  <a:srgbClr val="CB8611"/>
                </a:solidFill>
                <a:cs typeface="Calibri" panose="020F0502020204030204" pitchFamily="34" charset="0"/>
              </a:rPr>
              <a:t>Absorption</a:t>
            </a:r>
            <a:endParaRPr lang="zh-CN" altLang="en-US" sz="1050" b="1" dirty="0">
              <a:solidFill>
                <a:srgbClr val="CB8611"/>
              </a:solidFill>
              <a:cs typeface="Calibri" panose="020F0502020204030204" pitchFamily="34" charset="0"/>
            </a:endParaRPr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E0712CDE-844E-ECB2-5FB1-D8140268C23C}"/>
              </a:ext>
            </a:extLst>
          </p:cNvPr>
          <p:cNvCxnSpPr/>
          <p:nvPr/>
        </p:nvCxnSpPr>
        <p:spPr>
          <a:xfrm>
            <a:off x="17479032" y="8021118"/>
            <a:ext cx="0" cy="411310"/>
          </a:xfrm>
          <a:prstGeom prst="straightConnector1">
            <a:avLst/>
          </a:prstGeom>
          <a:ln w="31750">
            <a:solidFill>
              <a:srgbClr val="EE00E0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76" name="文本框 33">
            <a:extLst>
              <a:ext uri="{FF2B5EF4-FFF2-40B4-BE49-F238E27FC236}">
                <a16:creationId xmlns:a16="http://schemas.microsoft.com/office/drawing/2014/main" id="{4258F655-C30A-BCF2-FC57-C8130DE181F7}"/>
              </a:ext>
            </a:extLst>
          </p:cNvPr>
          <p:cNvSpPr txBox="1"/>
          <p:nvPr/>
        </p:nvSpPr>
        <p:spPr>
          <a:xfrm>
            <a:off x="17116721" y="8439643"/>
            <a:ext cx="785728" cy="52296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Heat</a:t>
            </a:r>
          </a:p>
          <a:p>
            <a:pPr algn="ctr"/>
            <a:r>
              <a:rPr lang="en" altLang="zh-CN" sz="1399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Transfer</a:t>
            </a:r>
            <a:endParaRPr lang="zh-CN" altLang="en-US" sz="1399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77" name="文本框 12">
            <a:extLst>
              <a:ext uri="{FF2B5EF4-FFF2-40B4-BE49-F238E27FC236}">
                <a16:creationId xmlns:a16="http://schemas.microsoft.com/office/drawing/2014/main" id="{49AF0B16-AD08-6587-E8EC-D108C1D9D61B}"/>
              </a:ext>
            </a:extLst>
          </p:cNvPr>
          <p:cNvSpPr txBox="1"/>
          <p:nvPr/>
        </p:nvSpPr>
        <p:spPr>
          <a:xfrm>
            <a:off x="17538583" y="7224312"/>
            <a:ext cx="75123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" altLang="zh-CN" sz="1200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Heat</a:t>
            </a:r>
          </a:p>
          <a:p>
            <a:pPr algn="ctr"/>
            <a:r>
              <a:rPr lang="en" altLang="zh-CN" sz="1200" b="1" dirty="0">
                <a:solidFill>
                  <a:srgbClr val="EE00E0"/>
                </a:solidFill>
                <a:cs typeface="Calibri" panose="020F0502020204030204" pitchFamily="34" charset="0"/>
                <a:sym typeface="微软雅黑" panose="020B0503020204020204" pitchFamily="34" charset="-122"/>
              </a:rPr>
              <a:t> Transfer</a:t>
            </a:r>
            <a:endParaRPr lang="zh-CN" altLang="en-US" sz="1200" b="1" dirty="0">
              <a:solidFill>
                <a:srgbClr val="EE00E0"/>
              </a:solidFill>
              <a:ea typeface="楷体" panose="02010609060101010101" charset="-122"/>
              <a:cs typeface="Calibri" panose="020F0502020204030204" pitchFamily="34" charset="0"/>
              <a:sym typeface="微软雅黑" panose="020B0503020204020204" pitchFamily="34" charset="-122"/>
            </a:endParaRPr>
          </a:p>
        </p:txBody>
      </p:sp>
      <p:cxnSp>
        <p:nvCxnSpPr>
          <p:cNvPr id="178" name="直接箭头连接符 452">
            <a:extLst>
              <a:ext uri="{FF2B5EF4-FFF2-40B4-BE49-F238E27FC236}">
                <a16:creationId xmlns:a16="http://schemas.microsoft.com/office/drawing/2014/main" id="{7CDCA9EA-D627-2F06-7489-481F90C0BE88}"/>
              </a:ext>
            </a:extLst>
          </p:cNvPr>
          <p:cNvCxnSpPr>
            <a:cxnSpLocks/>
          </p:cNvCxnSpPr>
          <p:nvPr/>
        </p:nvCxnSpPr>
        <p:spPr>
          <a:xfrm>
            <a:off x="17680214" y="7086307"/>
            <a:ext cx="450850" cy="0"/>
          </a:xfrm>
          <a:prstGeom prst="straightConnector1">
            <a:avLst/>
          </a:prstGeom>
          <a:ln w="25400">
            <a:solidFill>
              <a:srgbClr val="EE00E0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93AC969E-63D2-FDC8-654D-470938C2FBDB}"/>
              </a:ext>
            </a:extLst>
          </p:cNvPr>
          <p:cNvCxnSpPr/>
          <p:nvPr/>
        </p:nvCxnSpPr>
        <p:spPr>
          <a:xfrm>
            <a:off x="17907658" y="6870024"/>
            <a:ext cx="0" cy="411310"/>
          </a:xfrm>
          <a:prstGeom prst="straightConnector1">
            <a:avLst/>
          </a:prstGeom>
          <a:ln w="31750">
            <a:solidFill>
              <a:srgbClr val="EE00E0"/>
            </a:solidFill>
            <a:headEnd type="arrow"/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pic>
        <p:nvPicPr>
          <p:cNvPr id="266" name="图片 265">
            <a:extLst>
              <a:ext uri="{FF2B5EF4-FFF2-40B4-BE49-F238E27FC236}">
                <a16:creationId xmlns:a16="http://schemas.microsoft.com/office/drawing/2014/main" id="{0B842B0A-441E-400D-39AA-CA07D71E07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69351" y="2724814"/>
            <a:ext cx="5058105" cy="2880000"/>
          </a:xfrm>
          <a:prstGeom prst="rect">
            <a:avLst/>
          </a:prstGeom>
        </p:spPr>
      </p:pic>
      <p:pic>
        <p:nvPicPr>
          <p:cNvPr id="267" name="图片 266">
            <a:extLst>
              <a:ext uri="{FF2B5EF4-FFF2-40B4-BE49-F238E27FC236}">
                <a16:creationId xmlns:a16="http://schemas.microsoft.com/office/drawing/2014/main" id="{70A708A5-7713-32D1-097F-8DE049328A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3767" y="4673517"/>
            <a:ext cx="2078517" cy="1417629"/>
          </a:xfrm>
          <a:prstGeom prst="rect">
            <a:avLst/>
          </a:prstGeom>
        </p:spPr>
      </p:pic>
      <p:sp>
        <p:nvSpPr>
          <p:cNvPr id="19" name="L 形 18">
            <a:extLst>
              <a:ext uri="{FF2B5EF4-FFF2-40B4-BE49-F238E27FC236}">
                <a16:creationId xmlns:a16="http://schemas.microsoft.com/office/drawing/2014/main" id="{E5AF8EDC-032B-2377-420E-7BCEA7FF952E}"/>
              </a:ext>
            </a:extLst>
          </p:cNvPr>
          <p:cNvSpPr/>
          <p:nvPr/>
        </p:nvSpPr>
        <p:spPr>
          <a:xfrm rot="16200000">
            <a:off x="11561869" y="2708194"/>
            <a:ext cx="7198408" cy="6929891"/>
          </a:xfrm>
          <a:prstGeom prst="corner">
            <a:avLst>
              <a:gd name="adj1" fmla="val 78484"/>
              <a:gd name="adj2" fmla="val 46230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9F3DCD-0DE1-863C-B790-59941D69CEA7}"/>
              </a:ext>
            </a:extLst>
          </p:cNvPr>
          <p:cNvSpPr/>
          <p:nvPr/>
        </p:nvSpPr>
        <p:spPr>
          <a:xfrm>
            <a:off x="3062514" y="6226629"/>
            <a:ext cx="1931620" cy="33673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C6C8C4F-276A-2E64-A85C-9494B4C2E11F}"/>
              </a:ext>
            </a:extLst>
          </p:cNvPr>
          <p:cNvSpPr/>
          <p:nvPr/>
        </p:nvSpPr>
        <p:spPr>
          <a:xfrm>
            <a:off x="6098411" y="4515685"/>
            <a:ext cx="2201363" cy="1755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E6234DA7-9FE4-29F4-9B38-7001028C3D66}"/>
              </a:ext>
            </a:extLst>
          </p:cNvPr>
          <p:cNvSpPr txBox="1"/>
          <p:nvPr/>
        </p:nvSpPr>
        <p:spPr>
          <a:xfrm>
            <a:off x="3097306" y="91906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61D3B20-3547-76DB-2B1C-695C128233DB}"/>
              </a:ext>
            </a:extLst>
          </p:cNvPr>
          <p:cNvSpPr txBox="1"/>
          <p:nvPr/>
        </p:nvSpPr>
        <p:spPr>
          <a:xfrm>
            <a:off x="6116365" y="45087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4053441-B196-D04E-9B9D-CF2C802EE81E}"/>
              </a:ext>
            </a:extLst>
          </p:cNvPr>
          <p:cNvSpPr txBox="1"/>
          <p:nvPr/>
        </p:nvSpPr>
        <p:spPr>
          <a:xfrm>
            <a:off x="13211065" y="57719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15958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1D3B2D0-F809-E8DC-9DA8-0AD1CFB8B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54" y="3536092"/>
            <a:ext cx="15954615" cy="73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4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E5D0A01-F362-C63B-726B-F7B73DC2A87F}"/>
              </a:ext>
            </a:extLst>
          </p:cNvPr>
          <p:cNvSpPr/>
          <p:nvPr/>
        </p:nvSpPr>
        <p:spPr bwMode="auto">
          <a:xfrm>
            <a:off x="1440062" y="2273104"/>
            <a:ext cx="4833938" cy="3914964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pic>
        <p:nvPicPr>
          <p:cNvPr id="34" name="图片 86" descr="new_dem_exp">
            <a:extLst>
              <a:ext uri="{FF2B5EF4-FFF2-40B4-BE49-F238E27FC236}">
                <a16:creationId xmlns:a16="http://schemas.microsoft.com/office/drawing/2014/main" id="{7F7827A6-EA20-ED5C-797A-9D53A9BC4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3" t="18617" r="17036" b="1421"/>
          <a:stretch>
            <a:fillRect/>
          </a:stretch>
        </p:blipFill>
        <p:spPr bwMode="auto">
          <a:xfrm>
            <a:off x="1509484" y="2395001"/>
            <a:ext cx="2420199" cy="3727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文本框 87">
            <a:extLst>
              <a:ext uri="{FF2B5EF4-FFF2-40B4-BE49-F238E27FC236}">
                <a16:creationId xmlns:a16="http://schemas.microsoft.com/office/drawing/2014/main" id="{8434995F-A304-8618-D6CC-19751E3F7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062" y="1590668"/>
            <a:ext cx="4833938" cy="644982"/>
          </a:xfrm>
          <a:prstGeom prst="rect">
            <a:avLst/>
          </a:prstGeom>
          <a:solidFill>
            <a:sysClr val="window" lastClr="FFFFFF"/>
          </a:solidFill>
          <a:ln w="25400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1D41D5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Three-dimensional volume-averaged soil moisture transport (VAST) model </a:t>
            </a:r>
          </a:p>
        </p:txBody>
      </p:sp>
      <p:sp>
        <p:nvSpPr>
          <p:cNvPr id="36" name="文本框 88">
            <a:extLst>
              <a:ext uri="{FF2B5EF4-FFF2-40B4-BE49-F238E27FC236}">
                <a16:creationId xmlns:a16="http://schemas.microsoft.com/office/drawing/2014/main" id="{4699901E-DC0F-EF96-EE2D-4A1C958F7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549" y="2348649"/>
            <a:ext cx="2169588" cy="921765"/>
          </a:xfrm>
          <a:prstGeom prst="rect">
            <a:avLst/>
          </a:prstGeom>
          <a:solidFill>
            <a:sysClr val="window" lastClr="FFFFFF"/>
          </a:solidFill>
          <a:ln w="15875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Terrain-following vertical coordiante z</a:t>
            </a:r>
            <a:r>
              <a:rPr kumimoji="0" lang="en-US" altLang="zh-CN" sz="1800" b="1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*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=Z</a:t>
            </a:r>
            <a:r>
              <a:rPr kumimoji="0" lang="en-US" altLang="zh-CN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G 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- z</a:t>
            </a:r>
          </a:p>
        </p:txBody>
      </p:sp>
      <p:sp>
        <p:nvSpPr>
          <p:cNvPr id="37" name="文本框 90">
            <a:extLst>
              <a:ext uri="{FF2B5EF4-FFF2-40B4-BE49-F238E27FC236}">
                <a16:creationId xmlns:a16="http://schemas.microsoft.com/office/drawing/2014/main" id="{467193B7-D8A4-2ABF-52A2-AC124463A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2694" y="5711315"/>
            <a:ext cx="2174109" cy="368198"/>
          </a:xfrm>
          <a:prstGeom prst="rect">
            <a:avLst/>
          </a:prstGeom>
          <a:solidFill>
            <a:sysClr val="window" lastClr="FFFFFF"/>
          </a:solidFill>
          <a:ln w="15875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11 layers (0~5.67m)</a:t>
            </a:r>
          </a:p>
        </p:txBody>
      </p:sp>
      <p:sp>
        <p:nvSpPr>
          <p:cNvPr id="38" name="文本框 91">
            <a:extLst>
              <a:ext uri="{FF2B5EF4-FFF2-40B4-BE49-F238E27FC236}">
                <a16:creationId xmlns:a16="http://schemas.microsoft.com/office/drawing/2014/main" id="{C65295B6-DCA0-C5A5-4FEE-ABEA2615D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215" y="3361194"/>
            <a:ext cx="2169588" cy="644982"/>
          </a:xfrm>
          <a:prstGeom prst="rect">
            <a:avLst/>
          </a:prstGeom>
          <a:solidFill>
            <a:sysClr val="window" lastClr="FFFFFF"/>
          </a:solidFill>
          <a:ln w="15875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Subgrid soil moisture variation</a:t>
            </a:r>
          </a:p>
        </p:txBody>
      </p:sp>
      <p:sp>
        <p:nvSpPr>
          <p:cNvPr id="39" name="文本框 94">
            <a:extLst>
              <a:ext uri="{FF2B5EF4-FFF2-40B4-BE49-F238E27FC236}">
                <a16:creationId xmlns:a16="http://schemas.microsoft.com/office/drawing/2014/main" id="{3261E8F7-5B0D-3818-42A2-942E0660F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215" y="4120444"/>
            <a:ext cx="2169588" cy="646331"/>
          </a:xfrm>
          <a:prstGeom prst="rect">
            <a:avLst/>
          </a:prstGeom>
          <a:solidFill>
            <a:sysClr val="window" lastClr="FFFFFF"/>
          </a:solidFill>
          <a:ln w="15875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3D Richards equation </a:t>
            </a:r>
          </a:p>
        </p:txBody>
      </p:sp>
      <p:sp>
        <p:nvSpPr>
          <p:cNvPr id="40" name="任意多边形 95">
            <a:extLst>
              <a:ext uri="{FF2B5EF4-FFF2-40B4-BE49-F238E27FC236}">
                <a16:creationId xmlns:a16="http://schemas.microsoft.com/office/drawing/2014/main" id="{65798683-392B-961D-CA70-DFC7A827F471}"/>
              </a:ext>
            </a:extLst>
          </p:cNvPr>
          <p:cNvSpPr/>
          <p:nvPr/>
        </p:nvSpPr>
        <p:spPr bwMode="auto">
          <a:xfrm>
            <a:off x="2713137" y="4865728"/>
            <a:ext cx="662051" cy="395496"/>
          </a:xfrm>
          <a:custGeom>
            <a:avLst/>
            <a:gdLst>
              <a:gd name="connisteX0" fmla="*/ 0 w 650240"/>
              <a:gd name="connsiteY0" fmla="*/ 0 h 396240"/>
              <a:gd name="connisteX1" fmla="*/ 79375 w 650240"/>
              <a:gd name="connsiteY1" fmla="*/ 79375 h 396240"/>
              <a:gd name="connisteX2" fmla="*/ 158115 w 650240"/>
              <a:gd name="connsiteY2" fmla="*/ 111125 h 396240"/>
              <a:gd name="connisteX3" fmla="*/ 237490 w 650240"/>
              <a:gd name="connsiteY3" fmla="*/ 190500 h 396240"/>
              <a:gd name="connisteX4" fmla="*/ 332740 w 650240"/>
              <a:gd name="connsiteY4" fmla="*/ 285115 h 396240"/>
              <a:gd name="connisteX5" fmla="*/ 412115 w 650240"/>
              <a:gd name="connsiteY5" fmla="*/ 348615 h 396240"/>
              <a:gd name="connisteX6" fmla="*/ 491490 w 650240"/>
              <a:gd name="connsiteY6" fmla="*/ 348615 h 396240"/>
              <a:gd name="connisteX7" fmla="*/ 570865 w 650240"/>
              <a:gd name="connsiteY7" fmla="*/ 364490 h 396240"/>
              <a:gd name="connisteX8" fmla="*/ 650240 w 650240"/>
              <a:gd name="connsiteY8" fmla="*/ 396240 h 3962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50240" h="396240">
                <a:moveTo>
                  <a:pt x="0" y="0"/>
                </a:moveTo>
                <a:cubicBezTo>
                  <a:pt x="14605" y="15240"/>
                  <a:pt x="47625" y="57150"/>
                  <a:pt x="79375" y="79375"/>
                </a:cubicBezTo>
                <a:cubicBezTo>
                  <a:pt x="111125" y="101600"/>
                  <a:pt x="126365" y="88900"/>
                  <a:pt x="158115" y="111125"/>
                </a:cubicBezTo>
                <a:cubicBezTo>
                  <a:pt x="189865" y="133350"/>
                  <a:pt x="202565" y="155575"/>
                  <a:pt x="237490" y="190500"/>
                </a:cubicBezTo>
                <a:cubicBezTo>
                  <a:pt x="272415" y="225425"/>
                  <a:pt x="297815" y="253365"/>
                  <a:pt x="332740" y="285115"/>
                </a:cubicBezTo>
                <a:cubicBezTo>
                  <a:pt x="367665" y="316865"/>
                  <a:pt x="380365" y="335915"/>
                  <a:pt x="412115" y="348615"/>
                </a:cubicBezTo>
                <a:cubicBezTo>
                  <a:pt x="443865" y="361315"/>
                  <a:pt x="459740" y="345440"/>
                  <a:pt x="491490" y="348615"/>
                </a:cubicBezTo>
                <a:cubicBezTo>
                  <a:pt x="523240" y="351790"/>
                  <a:pt x="539115" y="354965"/>
                  <a:pt x="570865" y="364490"/>
                </a:cubicBezTo>
                <a:cubicBezTo>
                  <a:pt x="602615" y="374015"/>
                  <a:pt x="635635" y="389890"/>
                  <a:pt x="650240" y="396240"/>
                </a:cubicBezTo>
              </a:path>
            </a:pathLst>
          </a:custGeom>
          <a:noFill/>
          <a:ln w="38100" cap="flat" cmpd="sng" algn="ctr">
            <a:solidFill>
              <a:srgbClr val="1D41D5"/>
            </a:solidFill>
            <a:prstDash val="solid"/>
            <a:miter lim="800000"/>
            <a:tailEnd type="arrow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sp>
        <p:nvSpPr>
          <p:cNvPr id="41" name="任意多边形 96">
            <a:extLst>
              <a:ext uri="{FF2B5EF4-FFF2-40B4-BE49-F238E27FC236}">
                <a16:creationId xmlns:a16="http://schemas.microsoft.com/office/drawing/2014/main" id="{AA72927E-9806-FC2C-B3D7-144E0109C23F}"/>
              </a:ext>
            </a:extLst>
          </p:cNvPr>
          <p:cNvSpPr/>
          <p:nvPr/>
        </p:nvSpPr>
        <p:spPr bwMode="auto">
          <a:xfrm>
            <a:off x="2698927" y="4235348"/>
            <a:ext cx="660113" cy="396765"/>
          </a:xfrm>
          <a:custGeom>
            <a:avLst/>
            <a:gdLst>
              <a:gd name="connisteX0" fmla="*/ 0 w 650240"/>
              <a:gd name="connsiteY0" fmla="*/ 0 h 396240"/>
              <a:gd name="connisteX1" fmla="*/ 79375 w 650240"/>
              <a:gd name="connsiteY1" fmla="*/ 79375 h 396240"/>
              <a:gd name="connisteX2" fmla="*/ 158115 w 650240"/>
              <a:gd name="connsiteY2" fmla="*/ 111125 h 396240"/>
              <a:gd name="connisteX3" fmla="*/ 237490 w 650240"/>
              <a:gd name="connsiteY3" fmla="*/ 190500 h 396240"/>
              <a:gd name="connisteX4" fmla="*/ 332740 w 650240"/>
              <a:gd name="connsiteY4" fmla="*/ 285115 h 396240"/>
              <a:gd name="connisteX5" fmla="*/ 412115 w 650240"/>
              <a:gd name="connsiteY5" fmla="*/ 348615 h 396240"/>
              <a:gd name="connisteX6" fmla="*/ 491490 w 650240"/>
              <a:gd name="connsiteY6" fmla="*/ 348615 h 396240"/>
              <a:gd name="connisteX7" fmla="*/ 570865 w 650240"/>
              <a:gd name="connsiteY7" fmla="*/ 364490 h 396240"/>
              <a:gd name="connisteX8" fmla="*/ 650240 w 650240"/>
              <a:gd name="connsiteY8" fmla="*/ 396240 h 3962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50240" h="396240">
                <a:moveTo>
                  <a:pt x="0" y="0"/>
                </a:moveTo>
                <a:cubicBezTo>
                  <a:pt x="14605" y="15240"/>
                  <a:pt x="47625" y="57150"/>
                  <a:pt x="79375" y="79375"/>
                </a:cubicBezTo>
                <a:cubicBezTo>
                  <a:pt x="111125" y="101600"/>
                  <a:pt x="126365" y="88900"/>
                  <a:pt x="158115" y="111125"/>
                </a:cubicBezTo>
                <a:cubicBezTo>
                  <a:pt x="189865" y="133350"/>
                  <a:pt x="202565" y="155575"/>
                  <a:pt x="237490" y="190500"/>
                </a:cubicBezTo>
                <a:cubicBezTo>
                  <a:pt x="272415" y="225425"/>
                  <a:pt x="297815" y="253365"/>
                  <a:pt x="332740" y="285115"/>
                </a:cubicBezTo>
                <a:cubicBezTo>
                  <a:pt x="367665" y="316865"/>
                  <a:pt x="380365" y="335915"/>
                  <a:pt x="412115" y="348615"/>
                </a:cubicBezTo>
                <a:cubicBezTo>
                  <a:pt x="443865" y="361315"/>
                  <a:pt x="459740" y="345440"/>
                  <a:pt x="491490" y="348615"/>
                </a:cubicBezTo>
                <a:cubicBezTo>
                  <a:pt x="523240" y="351790"/>
                  <a:pt x="539115" y="354965"/>
                  <a:pt x="570865" y="364490"/>
                </a:cubicBezTo>
                <a:cubicBezTo>
                  <a:pt x="602615" y="374015"/>
                  <a:pt x="635635" y="389890"/>
                  <a:pt x="650240" y="396240"/>
                </a:cubicBezTo>
              </a:path>
            </a:pathLst>
          </a:custGeom>
          <a:noFill/>
          <a:ln w="38100" cap="flat" cmpd="sng" algn="ctr">
            <a:solidFill>
              <a:srgbClr val="1D41D5"/>
            </a:solidFill>
            <a:prstDash val="solid"/>
            <a:miter lim="800000"/>
            <a:tailEnd type="arrow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sp>
        <p:nvSpPr>
          <p:cNvPr id="42" name="任意多边形 97">
            <a:extLst>
              <a:ext uri="{FF2B5EF4-FFF2-40B4-BE49-F238E27FC236}">
                <a16:creationId xmlns:a16="http://schemas.microsoft.com/office/drawing/2014/main" id="{5F5DD562-5E75-96D8-C099-28E850C61409}"/>
              </a:ext>
            </a:extLst>
          </p:cNvPr>
          <p:cNvSpPr/>
          <p:nvPr/>
        </p:nvSpPr>
        <p:spPr bwMode="auto">
          <a:xfrm>
            <a:off x="2698927" y="3784622"/>
            <a:ext cx="660113" cy="396765"/>
          </a:xfrm>
          <a:custGeom>
            <a:avLst/>
            <a:gdLst>
              <a:gd name="connisteX0" fmla="*/ 0 w 650240"/>
              <a:gd name="connsiteY0" fmla="*/ 0 h 396240"/>
              <a:gd name="connisteX1" fmla="*/ 79375 w 650240"/>
              <a:gd name="connsiteY1" fmla="*/ 79375 h 396240"/>
              <a:gd name="connisteX2" fmla="*/ 158115 w 650240"/>
              <a:gd name="connsiteY2" fmla="*/ 111125 h 396240"/>
              <a:gd name="connisteX3" fmla="*/ 237490 w 650240"/>
              <a:gd name="connsiteY3" fmla="*/ 190500 h 396240"/>
              <a:gd name="connisteX4" fmla="*/ 332740 w 650240"/>
              <a:gd name="connsiteY4" fmla="*/ 285115 h 396240"/>
              <a:gd name="connisteX5" fmla="*/ 412115 w 650240"/>
              <a:gd name="connsiteY5" fmla="*/ 348615 h 396240"/>
              <a:gd name="connisteX6" fmla="*/ 491490 w 650240"/>
              <a:gd name="connsiteY6" fmla="*/ 348615 h 396240"/>
              <a:gd name="connisteX7" fmla="*/ 570865 w 650240"/>
              <a:gd name="connsiteY7" fmla="*/ 364490 h 396240"/>
              <a:gd name="connisteX8" fmla="*/ 650240 w 650240"/>
              <a:gd name="connsiteY8" fmla="*/ 396240 h 3962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50240" h="396240">
                <a:moveTo>
                  <a:pt x="0" y="0"/>
                </a:moveTo>
                <a:cubicBezTo>
                  <a:pt x="14605" y="15240"/>
                  <a:pt x="47625" y="57150"/>
                  <a:pt x="79375" y="79375"/>
                </a:cubicBezTo>
                <a:cubicBezTo>
                  <a:pt x="111125" y="101600"/>
                  <a:pt x="126365" y="88900"/>
                  <a:pt x="158115" y="111125"/>
                </a:cubicBezTo>
                <a:cubicBezTo>
                  <a:pt x="189865" y="133350"/>
                  <a:pt x="202565" y="155575"/>
                  <a:pt x="237490" y="190500"/>
                </a:cubicBezTo>
                <a:cubicBezTo>
                  <a:pt x="272415" y="225425"/>
                  <a:pt x="297815" y="253365"/>
                  <a:pt x="332740" y="285115"/>
                </a:cubicBezTo>
                <a:cubicBezTo>
                  <a:pt x="367665" y="316865"/>
                  <a:pt x="380365" y="335915"/>
                  <a:pt x="412115" y="348615"/>
                </a:cubicBezTo>
                <a:cubicBezTo>
                  <a:pt x="443865" y="361315"/>
                  <a:pt x="459740" y="345440"/>
                  <a:pt x="491490" y="348615"/>
                </a:cubicBezTo>
                <a:cubicBezTo>
                  <a:pt x="523240" y="351790"/>
                  <a:pt x="539115" y="354965"/>
                  <a:pt x="570865" y="364490"/>
                </a:cubicBezTo>
                <a:cubicBezTo>
                  <a:pt x="602615" y="374015"/>
                  <a:pt x="635635" y="389890"/>
                  <a:pt x="650240" y="396240"/>
                </a:cubicBezTo>
              </a:path>
            </a:pathLst>
          </a:custGeom>
          <a:noFill/>
          <a:ln w="38100" cap="flat" cmpd="sng" algn="ctr">
            <a:solidFill>
              <a:srgbClr val="1D41D5"/>
            </a:solidFill>
            <a:prstDash val="solid"/>
            <a:miter lim="800000"/>
            <a:tailEnd type="arrow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sp>
        <p:nvSpPr>
          <p:cNvPr id="43" name="文本框 100">
            <a:extLst>
              <a:ext uri="{FF2B5EF4-FFF2-40B4-BE49-F238E27FC236}">
                <a16:creationId xmlns:a16="http://schemas.microsoft.com/office/drawing/2014/main" id="{9100A3F7-D46C-5D3A-89B3-2BBDF4DFB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2694" y="4945082"/>
            <a:ext cx="2169588" cy="644982"/>
          </a:xfrm>
          <a:prstGeom prst="rect">
            <a:avLst/>
          </a:prstGeom>
          <a:solidFill>
            <a:sysClr val="window" lastClr="FFFFFF"/>
          </a:solidFill>
          <a:ln w="15875">
            <a:solidFill>
              <a:sysClr val="windowText" lastClr="000000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</a:rPr>
              <a:t>Soil water lateral transportation </a:t>
            </a:r>
          </a:p>
        </p:txBody>
      </p:sp>
      <p:sp>
        <p:nvSpPr>
          <p:cNvPr id="44" name="任意多边形 101">
            <a:extLst>
              <a:ext uri="{FF2B5EF4-FFF2-40B4-BE49-F238E27FC236}">
                <a16:creationId xmlns:a16="http://schemas.microsoft.com/office/drawing/2014/main" id="{CBD7CD98-5F09-5886-44D0-2731479B9581}"/>
              </a:ext>
            </a:extLst>
          </p:cNvPr>
          <p:cNvSpPr/>
          <p:nvPr/>
        </p:nvSpPr>
        <p:spPr bwMode="auto">
          <a:xfrm>
            <a:off x="2600750" y="5315184"/>
            <a:ext cx="662051" cy="395496"/>
          </a:xfrm>
          <a:custGeom>
            <a:avLst/>
            <a:gdLst>
              <a:gd name="connisteX0" fmla="*/ 0 w 650240"/>
              <a:gd name="connsiteY0" fmla="*/ 0 h 396240"/>
              <a:gd name="connisteX1" fmla="*/ 79375 w 650240"/>
              <a:gd name="connsiteY1" fmla="*/ 79375 h 396240"/>
              <a:gd name="connisteX2" fmla="*/ 158115 w 650240"/>
              <a:gd name="connsiteY2" fmla="*/ 111125 h 396240"/>
              <a:gd name="connisteX3" fmla="*/ 237490 w 650240"/>
              <a:gd name="connsiteY3" fmla="*/ 190500 h 396240"/>
              <a:gd name="connisteX4" fmla="*/ 332740 w 650240"/>
              <a:gd name="connsiteY4" fmla="*/ 285115 h 396240"/>
              <a:gd name="connisteX5" fmla="*/ 412115 w 650240"/>
              <a:gd name="connsiteY5" fmla="*/ 348615 h 396240"/>
              <a:gd name="connisteX6" fmla="*/ 491490 w 650240"/>
              <a:gd name="connsiteY6" fmla="*/ 348615 h 396240"/>
              <a:gd name="connisteX7" fmla="*/ 570865 w 650240"/>
              <a:gd name="connsiteY7" fmla="*/ 364490 h 396240"/>
              <a:gd name="connisteX8" fmla="*/ 650240 w 650240"/>
              <a:gd name="connsiteY8" fmla="*/ 396240 h 3962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50240" h="396240">
                <a:moveTo>
                  <a:pt x="0" y="0"/>
                </a:moveTo>
                <a:cubicBezTo>
                  <a:pt x="14605" y="15240"/>
                  <a:pt x="47625" y="57150"/>
                  <a:pt x="79375" y="79375"/>
                </a:cubicBezTo>
                <a:cubicBezTo>
                  <a:pt x="111125" y="101600"/>
                  <a:pt x="126365" y="88900"/>
                  <a:pt x="158115" y="111125"/>
                </a:cubicBezTo>
                <a:cubicBezTo>
                  <a:pt x="189865" y="133350"/>
                  <a:pt x="202565" y="155575"/>
                  <a:pt x="237490" y="190500"/>
                </a:cubicBezTo>
                <a:cubicBezTo>
                  <a:pt x="272415" y="225425"/>
                  <a:pt x="297815" y="253365"/>
                  <a:pt x="332740" y="285115"/>
                </a:cubicBezTo>
                <a:cubicBezTo>
                  <a:pt x="367665" y="316865"/>
                  <a:pt x="380365" y="335915"/>
                  <a:pt x="412115" y="348615"/>
                </a:cubicBezTo>
                <a:cubicBezTo>
                  <a:pt x="443865" y="361315"/>
                  <a:pt x="459740" y="345440"/>
                  <a:pt x="491490" y="348615"/>
                </a:cubicBezTo>
                <a:cubicBezTo>
                  <a:pt x="523240" y="351790"/>
                  <a:pt x="539115" y="354965"/>
                  <a:pt x="570865" y="364490"/>
                </a:cubicBezTo>
                <a:cubicBezTo>
                  <a:pt x="602615" y="374015"/>
                  <a:pt x="635635" y="389890"/>
                  <a:pt x="650240" y="396240"/>
                </a:cubicBezTo>
              </a:path>
            </a:pathLst>
          </a:custGeom>
          <a:noFill/>
          <a:ln w="38100" cap="flat" cmpd="sng" algn="ctr">
            <a:solidFill>
              <a:srgbClr val="1D41D5"/>
            </a:solidFill>
            <a:prstDash val="solid"/>
            <a:miter lim="800000"/>
            <a:tailEnd type="arrow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sp>
        <p:nvSpPr>
          <p:cNvPr id="45" name="文本框 16">
            <a:extLst>
              <a:ext uri="{FF2B5EF4-FFF2-40B4-BE49-F238E27FC236}">
                <a16:creationId xmlns:a16="http://schemas.microsoft.com/office/drawing/2014/main" id="{885C60F5-DAE3-D9F1-414F-75273583D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487" y="5562593"/>
            <a:ext cx="6604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prstClr val="black"/>
                </a:solidFill>
                <a:latin typeface="+mn-lt"/>
              </a:rPr>
              <a:t>DEM</a:t>
            </a:r>
          </a:p>
        </p:txBody>
      </p:sp>
      <p:pic>
        <p:nvPicPr>
          <p:cNvPr id="174" name="图片 173">
            <a:extLst>
              <a:ext uri="{FF2B5EF4-FFF2-40B4-BE49-F238E27FC236}">
                <a16:creationId xmlns:a16="http://schemas.microsoft.com/office/drawing/2014/main" id="{C6729497-7162-B7F3-2FEF-F08326069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99" r="20791" b="23477"/>
          <a:stretch>
            <a:fillRect/>
          </a:stretch>
        </p:blipFill>
        <p:spPr>
          <a:xfrm>
            <a:off x="2630269" y="8952502"/>
            <a:ext cx="2615448" cy="1820168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E600AF02-CD00-DF8E-BCC1-6EE0D9EDF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270" y="10937801"/>
            <a:ext cx="2966662" cy="1942749"/>
          </a:xfrm>
          <a:prstGeom prst="rect">
            <a:avLst/>
          </a:prstGeom>
        </p:spPr>
      </p:pic>
      <p:sp>
        <p:nvSpPr>
          <p:cNvPr id="172" name="文本框 22">
            <a:extLst>
              <a:ext uri="{FF2B5EF4-FFF2-40B4-BE49-F238E27FC236}">
                <a16:creationId xmlns:a16="http://schemas.microsoft.com/office/drawing/2014/main" id="{BFB4CA3B-262E-2E79-700D-C965F3EEA14A}"/>
              </a:ext>
            </a:extLst>
          </p:cNvPr>
          <p:cNvSpPr txBox="1"/>
          <p:nvPr/>
        </p:nvSpPr>
        <p:spPr>
          <a:xfrm>
            <a:off x="1956791" y="8450096"/>
            <a:ext cx="3784001" cy="369332"/>
          </a:xfrm>
          <a:prstGeom prst="rect">
            <a:avLst/>
          </a:prstGeom>
          <a:solidFill>
            <a:sysClr val="window" lastClr="FFFFFF"/>
          </a:solidFill>
          <a:ln w="25400">
            <a:solidFill>
              <a:sysClr val="windowText" lastClr="000000"/>
            </a:solidFill>
          </a:ln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1D41D5"/>
                </a:solidFill>
                <a:effectLst/>
                <a:uLnTx/>
                <a:uFillTx/>
                <a:ea typeface="微软雅黑"/>
              </a:rPr>
              <a:t>Variable Infiltration Capacity (VIC)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87804F2B-1156-7E4B-A4A8-0F09CC760B80}"/>
              </a:ext>
            </a:extLst>
          </p:cNvPr>
          <p:cNvSpPr/>
          <p:nvPr/>
        </p:nvSpPr>
        <p:spPr>
          <a:xfrm>
            <a:off x="1952030" y="8858698"/>
            <a:ext cx="3784001" cy="41760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  <a:cs typeface="+mn-cs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FBF9BD73-3624-2D92-7A92-B1A20FC69F34}"/>
              </a:ext>
            </a:extLst>
          </p:cNvPr>
          <p:cNvSpPr txBox="1"/>
          <p:nvPr/>
        </p:nvSpPr>
        <p:spPr>
          <a:xfrm rot="16200000">
            <a:off x="1314412" y="9485711"/>
            <a:ext cx="207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b="1" dirty="0">
                <a:solidFill>
                  <a:srgbClr val="000000"/>
                </a:solidFill>
                <a:ea typeface="微软雅黑"/>
              </a:rPr>
              <a:t>Infiltration Curve</a:t>
            </a:r>
            <a:endParaRPr lang="zh-CN" altLang="en-US" b="1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00B19892-A39D-33A0-B2B7-787FFCEF0C02}"/>
              </a:ext>
            </a:extLst>
          </p:cNvPr>
          <p:cNvSpPr txBox="1"/>
          <p:nvPr/>
        </p:nvSpPr>
        <p:spPr>
          <a:xfrm rot="20501552">
            <a:off x="3251041" y="12047655"/>
            <a:ext cx="794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srgbClr val="C00000"/>
                </a:solidFill>
                <a:ea typeface="微软雅黑"/>
              </a:rPr>
              <a:t>Linear</a:t>
            </a:r>
            <a:endParaRPr lang="zh-CN" altLang="en-US" sz="1600" b="1" dirty="0">
              <a:solidFill>
                <a:srgbClr val="C00000"/>
              </a:solidFill>
              <a:ea typeface="微软雅黑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11E306B3-37B9-E6F0-AB90-8FAC98A0B58E}"/>
              </a:ext>
            </a:extLst>
          </p:cNvPr>
          <p:cNvSpPr txBox="1"/>
          <p:nvPr/>
        </p:nvSpPr>
        <p:spPr>
          <a:xfrm rot="17794447">
            <a:off x="4285639" y="11156007"/>
            <a:ext cx="1318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srgbClr val="C00000"/>
                </a:solidFill>
                <a:ea typeface="微软雅黑"/>
              </a:rPr>
              <a:t>Non-Linear</a:t>
            </a:r>
            <a:endParaRPr lang="zh-CN" altLang="en-US" sz="1600" b="1" dirty="0">
              <a:solidFill>
                <a:srgbClr val="C00000"/>
              </a:solidFill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BA862-3133-73A8-493F-943D366D712B}"/>
              </a:ext>
            </a:extLst>
          </p:cNvPr>
          <p:cNvSpPr txBox="1"/>
          <p:nvPr/>
        </p:nvSpPr>
        <p:spPr>
          <a:xfrm rot="16200000">
            <a:off x="1314411" y="11439722"/>
            <a:ext cx="207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b="1" dirty="0">
                <a:solidFill>
                  <a:srgbClr val="000000"/>
                </a:solidFill>
                <a:ea typeface="微软雅黑"/>
              </a:rPr>
              <a:t>Baseflow Curve</a:t>
            </a:r>
            <a:endParaRPr lang="zh-CN" altLang="en-US" b="1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1DF674-FE81-49CD-D21A-FF5C7F130929}"/>
              </a:ext>
            </a:extLst>
          </p:cNvPr>
          <p:cNvSpPr/>
          <p:nvPr/>
        </p:nvSpPr>
        <p:spPr>
          <a:xfrm>
            <a:off x="3660771" y="8922198"/>
            <a:ext cx="609600" cy="342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302B3E-B9D3-6780-E7B7-3E67124B3121}"/>
              </a:ext>
            </a:extLst>
          </p:cNvPr>
          <p:cNvSpPr/>
          <p:nvPr/>
        </p:nvSpPr>
        <p:spPr>
          <a:xfrm>
            <a:off x="3416157" y="9125430"/>
            <a:ext cx="440874" cy="480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8676401-0B1A-7E79-F2FA-DD1AB7E5A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703930"/>
              </p:ext>
            </p:extLst>
          </p:nvPr>
        </p:nvGraphicFramePr>
        <p:xfrm>
          <a:off x="13938127" y="618525"/>
          <a:ext cx="540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6628163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77853655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6536375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4479717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8666988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00439380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29149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13556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12257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95953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3817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64351"/>
                  </a:ext>
                </a:extLst>
              </a:tr>
            </a:tbl>
          </a:graphicData>
        </a:graphic>
      </p:graphicFrame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28509E74-4D0B-56F4-AD08-423857AA4973}"/>
              </a:ext>
            </a:extLst>
          </p:cNvPr>
          <p:cNvCxnSpPr>
            <a:cxnSpLocks/>
          </p:cNvCxnSpPr>
          <p:nvPr/>
        </p:nvCxnSpPr>
        <p:spPr>
          <a:xfrm>
            <a:off x="15275174" y="1975304"/>
            <a:ext cx="900000" cy="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F1578B9F-F252-F0DE-2E01-EC942DA95DA3}"/>
              </a:ext>
            </a:extLst>
          </p:cNvPr>
          <p:cNvCxnSpPr>
            <a:cxnSpLocks/>
          </p:cNvCxnSpPr>
          <p:nvPr/>
        </p:nvCxnSpPr>
        <p:spPr>
          <a:xfrm>
            <a:off x="16175174" y="1982850"/>
            <a:ext cx="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E687A6B6-91C1-F1DC-2D48-B33FBDCF9223}"/>
              </a:ext>
            </a:extLst>
          </p:cNvPr>
          <p:cNvCxnSpPr>
            <a:cxnSpLocks/>
          </p:cNvCxnSpPr>
          <p:nvPr/>
        </p:nvCxnSpPr>
        <p:spPr>
          <a:xfrm>
            <a:off x="14356124" y="1086809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8D317CEF-0D01-E3DD-5A78-AAE0BB61E00F}"/>
              </a:ext>
            </a:extLst>
          </p:cNvPr>
          <p:cNvCxnSpPr>
            <a:cxnSpLocks/>
          </p:cNvCxnSpPr>
          <p:nvPr/>
        </p:nvCxnSpPr>
        <p:spPr>
          <a:xfrm flipH="1">
            <a:off x="16211063" y="1957451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B2E3AA6E-1C1F-E624-8E3E-D80AA7768A40}"/>
              </a:ext>
            </a:extLst>
          </p:cNvPr>
          <p:cNvCxnSpPr>
            <a:cxnSpLocks/>
          </p:cNvCxnSpPr>
          <p:nvPr/>
        </p:nvCxnSpPr>
        <p:spPr>
          <a:xfrm>
            <a:off x="16188127" y="2892642"/>
            <a:ext cx="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F2937A3C-4CFD-EBC6-E1DA-ABC2E8EC226E}"/>
              </a:ext>
            </a:extLst>
          </p:cNvPr>
          <p:cNvCxnSpPr>
            <a:cxnSpLocks/>
          </p:cNvCxnSpPr>
          <p:nvPr/>
        </p:nvCxnSpPr>
        <p:spPr>
          <a:xfrm>
            <a:off x="17088127" y="4687886"/>
            <a:ext cx="900000" cy="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2A9BAAD-26AD-CD5A-CE77-6163F327287D}"/>
              </a:ext>
            </a:extLst>
          </p:cNvPr>
          <p:cNvCxnSpPr>
            <a:cxnSpLocks/>
          </p:cNvCxnSpPr>
          <p:nvPr/>
        </p:nvCxnSpPr>
        <p:spPr>
          <a:xfrm>
            <a:off x="16200610" y="3788684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6C6553EC-7122-58CC-E54F-19254412F8BD}"/>
              </a:ext>
            </a:extLst>
          </p:cNvPr>
          <p:cNvCxnSpPr>
            <a:cxnSpLocks/>
          </p:cNvCxnSpPr>
          <p:nvPr/>
        </p:nvCxnSpPr>
        <p:spPr>
          <a:xfrm>
            <a:off x="17988127" y="4687089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FB0F0550-702B-0502-FCA5-792F68EB748F}"/>
              </a:ext>
            </a:extLst>
          </p:cNvPr>
          <p:cNvCxnSpPr>
            <a:cxnSpLocks/>
          </p:cNvCxnSpPr>
          <p:nvPr/>
        </p:nvCxnSpPr>
        <p:spPr>
          <a:xfrm flipH="1">
            <a:off x="17111063" y="1043059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EA94D569-27AA-C74D-F646-38BE80221954}"/>
              </a:ext>
            </a:extLst>
          </p:cNvPr>
          <p:cNvCxnSpPr>
            <a:cxnSpLocks/>
          </p:cNvCxnSpPr>
          <p:nvPr/>
        </p:nvCxnSpPr>
        <p:spPr>
          <a:xfrm>
            <a:off x="17118263" y="1063800"/>
            <a:ext cx="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9A5CBD2B-02FA-59AC-A137-3005F03FA59E}"/>
              </a:ext>
            </a:extLst>
          </p:cNvPr>
          <p:cNvCxnSpPr>
            <a:cxnSpLocks/>
          </p:cNvCxnSpPr>
          <p:nvPr/>
        </p:nvCxnSpPr>
        <p:spPr>
          <a:xfrm flipH="1">
            <a:off x="16200610" y="4663218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7104C32B-1D7C-E866-CE88-89B80A60978E}"/>
              </a:ext>
            </a:extLst>
          </p:cNvPr>
          <p:cNvCxnSpPr>
            <a:cxnSpLocks/>
          </p:cNvCxnSpPr>
          <p:nvPr/>
        </p:nvCxnSpPr>
        <p:spPr>
          <a:xfrm>
            <a:off x="15306852" y="4663218"/>
            <a:ext cx="900000" cy="90000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5F34F2C5-F262-9F16-6FEC-CF2ADD38DCF4}"/>
              </a:ext>
            </a:extLst>
          </p:cNvPr>
          <p:cNvCxnSpPr>
            <a:cxnSpLocks/>
          </p:cNvCxnSpPr>
          <p:nvPr/>
        </p:nvCxnSpPr>
        <p:spPr>
          <a:xfrm>
            <a:off x="14406852" y="4687089"/>
            <a:ext cx="900000" cy="0"/>
          </a:xfrm>
          <a:prstGeom prst="line">
            <a:avLst/>
          </a:prstGeom>
          <a:ln w="60325" cmpd="sng">
            <a:prstDash val="solid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4" name="表格 313">
            <a:extLst>
              <a:ext uri="{FF2B5EF4-FFF2-40B4-BE49-F238E27FC236}">
                <a16:creationId xmlns:a16="http://schemas.microsoft.com/office/drawing/2014/main" id="{CF556AA1-A74D-F283-04BA-3A45F6C59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634679"/>
              </p:ext>
            </p:extLst>
          </p:nvPr>
        </p:nvGraphicFramePr>
        <p:xfrm>
          <a:off x="14008275" y="6306389"/>
          <a:ext cx="666000" cy="66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62842963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57563"/>
                  </a:ext>
                </a:extLst>
              </a:tr>
            </a:tbl>
          </a:graphicData>
        </a:graphic>
      </p:graphicFrame>
      <p:sp>
        <p:nvSpPr>
          <p:cNvPr id="315" name="文本框 314">
            <a:extLst>
              <a:ext uri="{FF2B5EF4-FFF2-40B4-BE49-F238E27FC236}">
                <a16:creationId xmlns:a16="http://schemas.microsoft.com/office/drawing/2014/main" id="{1B913D14-145B-EF22-BBA5-FBD969F3AF8A}"/>
              </a:ext>
            </a:extLst>
          </p:cNvPr>
          <p:cNvSpPr txBox="1"/>
          <p:nvPr/>
        </p:nvSpPr>
        <p:spPr>
          <a:xfrm>
            <a:off x="14889822" y="6369533"/>
            <a:ext cx="449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Surface Water Withdrawal Region</a:t>
            </a:r>
          </a:p>
        </p:txBody>
      </p:sp>
      <p:pic>
        <p:nvPicPr>
          <p:cNvPr id="319" name="图片 318" descr="图片包含 箭头&#10;&#10;AI 生成的内容可能不正确。">
            <a:extLst>
              <a:ext uri="{FF2B5EF4-FFF2-40B4-BE49-F238E27FC236}">
                <a16:creationId xmlns:a16="http://schemas.microsoft.com/office/drawing/2014/main" id="{599C734A-10F3-34C2-E091-0E0B3DDF7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174" y="3267865"/>
            <a:ext cx="1037647" cy="1041638"/>
          </a:xfrm>
          <a:prstGeom prst="rect">
            <a:avLst/>
          </a:prstGeom>
        </p:spPr>
      </p:pic>
      <p:pic>
        <p:nvPicPr>
          <p:cNvPr id="320" name="图片 319" descr="图片包含 箭头&#10;&#10;AI 生成的内容可能不正确。">
            <a:extLst>
              <a:ext uri="{FF2B5EF4-FFF2-40B4-BE49-F238E27FC236}">
                <a16:creationId xmlns:a16="http://schemas.microsoft.com/office/drawing/2014/main" id="{3A5075A8-2D7F-1979-1B20-4B4E2259EC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075" y="4112920"/>
            <a:ext cx="1037647" cy="1041638"/>
          </a:xfrm>
          <a:prstGeom prst="rect">
            <a:avLst/>
          </a:prstGeom>
        </p:spPr>
      </p:pic>
      <p:graphicFrame>
        <p:nvGraphicFramePr>
          <p:cNvPr id="372" name="表格 371">
            <a:extLst>
              <a:ext uri="{FF2B5EF4-FFF2-40B4-BE49-F238E27FC236}">
                <a16:creationId xmlns:a16="http://schemas.microsoft.com/office/drawing/2014/main" id="{F0680062-59AB-B50C-ABEB-EE14F4428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013821"/>
              </p:ext>
            </p:extLst>
          </p:nvPr>
        </p:nvGraphicFramePr>
        <p:xfrm>
          <a:off x="14051891" y="8356075"/>
          <a:ext cx="2736000" cy="2736000"/>
        </p:xfrm>
        <a:graphic>
          <a:graphicData uri="http://schemas.openxmlformats.org/drawingml/2006/table">
            <a:tbl>
              <a:tblPr firstRow="1" bandRow="1"/>
              <a:tblGrid>
                <a:gridCol w="684000">
                  <a:extLst>
                    <a:ext uri="{9D8B030D-6E8A-4147-A177-3AD203B41FA5}">
                      <a16:colId xmlns:a16="http://schemas.microsoft.com/office/drawing/2014/main" val="36466443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5771336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64043095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26796721"/>
                    </a:ext>
                  </a:extLst>
                </a:gridCol>
              </a:tblGrid>
              <a:tr h="684000"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b="1" kern="1200">
                          <a:solidFill>
                            <a:schemeClr val="lt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501399"/>
                  </a:ext>
                </a:extLst>
              </a:tr>
              <a:tr h="684000"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007188"/>
                  </a:ext>
                </a:extLst>
              </a:tr>
              <a:tr h="684000"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001745"/>
                  </a:ext>
                </a:extLst>
              </a:tr>
              <a:tr h="684000"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1pPr>
                      <a:lvl2pPr marL="960029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2pPr>
                      <a:lvl3pPr marL="1920057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3pPr>
                      <a:lvl4pPr marL="2880086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4pPr>
                      <a:lvl5pPr marL="3840114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5pPr>
                      <a:lvl6pPr marL="4800143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6pPr>
                      <a:lvl7pPr marL="5760171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7pPr>
                      <a:lvl8pPr marL="6720200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8pPr>
                      <a:lvl9pPr marL="7680228" algn="l" defTabSz="1920057" rtl="0" eaLnBrk="1" latinLnBrk="0" hangingPunct="1">
                        <a:defRPr sz="3780" kern="1200">
                          <a:solidFill>
                            <a:schemeClr val="dk1"/>
                          </a:solidFill>
                          <a:latin typeface="等线" panose="02110004020202020204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296326"/>
                  </a:ext>
                </a:extLst>
              </a:tr>
            </a:tbl>
          </a:graphicData>
        </a:graphic>
      </p:graphicFrame>
      <p:sp>
        <p:nvSpPr>
          <p:cNvPr id="373" name="立方体 372">
            <a:extLst>
              <a:ext uri="{FF2B5EF4-FFF2-40B4-BE49-F238E27FC236}">
                <a16:creationId xmlns:a16="http://schemas.microsoft.com/office/drawing/2014/main" id="{F57F76F1-A70E-D0D0-B82C-CFE75E312642}"/>
              </a:ext>
            </a:extLst>
          </p:cNvPr>
          <p:cNvSpPr/>
          <p:nvPr/>
        </p:nvSpPr>
        <p:spPr>
          <a:xfrm>
            <a:off x="15006620" y="12435946"/>
            <a:ext cx="1126614" cy="1080000"/>
          </a:xfrm>
          <a:prstGeom prst="cube">
            <a:avLst>
              <a:gd name="adj" fmla="val 46766"/>
            </a:avLst>
          </a:prstGeom>
          <a:solidFill>
            <a:srgbClr val="9CC4E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74" name="直接箭头连接符 373">
            <a:extLst>
              <a:ext uri="{FF2B5EF4-FFF2-40B4-BE49-F238E27FC236}">
                <a16:creationId xmlns:a16="http://schemas.microsoft.com/office/drawing/2014/main" id="{8C980305-0D71-274F-91BA-3E09391B159D}"/>
              </a:ext>
            </a:extLst>
          </p:cNvPr>
          <p:cNvCxnSpPr>
            <a:cxnSpLocks/>
          </p:cNvCxnSpPr>
          <p:nvPr/>
        </p:nvCxnSpPr>
        <p:spPr>
          <a:xfrm>
            <a:off x="16591594" y="10061313"/>
            <a:ext cx="540835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5" name="文本框 374">
            <a:extLst>
              <a:ext uri="{FF2B5EF4-FFF2-40B4-BE49-F238E27FC236}">
                <a16:creationId xmlns:a16="http://schemas.microsoft.com/office/drawing/2014/main" id="{B8D4FD7F-B82C-DD0B-DD12-C3BE96D337BF}"/>
              </a:ext>
            </a:extLst>
          </p:cNvPr>
          <p:cNvSpPr txBox="1"/>
          <p:nvPr/>
        </p:nvSpPr>
        <p:spPr>
          <a:xfrm>
            <a:off x="17149241" y="10496576"/>
            <a:ext cx="1622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000" b="1" dirty="0">
                <a:solidFill>
                  <a:srgbClr val="4EA72E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Irrigated area</a:t>
            </a:r>
            <a:endParaRPr lang="zh-CN" altLang="en-US" sz="2000" b="1" dirty="0">
              <a:solidFill>
                <a:srgbClr val="4EA72E"/>
              </a:solidFill>
              <a:cs typeface="Calibri" panose="020F0502020204030204" pitchFamily="34" charset="0"/>
            </a:endParaRPr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0B696D54-F9EF-F885-5CD4-B3F9C520F695}"/>
              </a:ext>
            </a:extLst>
          </p:cNvPr>
          <p:cNvSpPr txBox="1"/>
          <p:nvPr/>
        </p:nvSpPr>
        <p:spPr>
          <a:xfrm>
            <a:off x="17144096" y="9887901"/>
            <a:ext cx="2138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000" b="1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Non-irrigated area</a:t>
            </a:r>
            <a:endParaRPr lang="zh-CN" altLang="en-US" sz="2000" b="1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cxnSp>
        <p:nvCxnSpPr>
          <p:cNvPr id="377" name="直接箭头连接符 376">
            <a:extLst>
              <a:ext uri="{FF2B5EF4-FFF2-40B4-BE49-F238E27FC236}">
                <a16:creationId xmlns:a16="http://schemas.microsoft.com/office/drawing/2014/main" id="{9733732D-F03A-373E-51FA-61A4D7EDDA58}"/>
              </a:ext>
            </a:extLst>
          </p:cNvPr>
          <p:cNvCxnSpPr>
            <a:cxnSpLocks/>
          </p:cNvCxnSpPr>
          <p:nvPr/>
        </p:nvCxnSpPr>
        <p:spPr>
          <a:xfrm flipV="1">
            <a:off x="16611584" y="10714072"/>
            <a:ext cx="540835" cy="5340"/>
          </a:xfrm>
          <a:prstGeom prst="straightConnector1">
            <a:avLst/>
          </a:prstGeom>
          <a:noFill/>
          <a:ln w="28575" cap="flat" cmpd="sng" algn="ctr">
            <a:solidFill>
              <a:srgbClr val="4EA72E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8" name="立方体 377">
            <a:extLst>
              <a:ext uri="{FF2B5EF4-FFF2-40B4-BE49-F238E27FC236}">
                <a16:creationId xmlns:a16="http://schemas.microsoft.com/office/drawing/2014/main" id="{EF9866AF-9718-5BA4-76EB-DB20D5C1C75F}"/>
              </a:ext>
            </a:extLst>
          </p:cNvPr>
          <p:cNvSpPr/>
          <p:nvPr/>
        </p:nvSpPr>
        <p:spPr>
          <a:xfrm>
            <a:off x="15002250" y="11366954"/>
            <a:ext cx="1125792" cy="1630278"/>
          </a:xfrm>
          <a:prstGeom prst="cube">
            <a:avLst>
              <a:gd name="adj" fmla="val 45223"/>
            </a:avLst>
          </a:prstGeom>
          <a:solidFill>
            <a:srgbClr val="FED964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CDB6D8D2-1B6F-0794-48AA-75C4084ED8E7}"/>
              </a:ext>
            </a:extLst>
          </p:cNvPr>
          <p:cNvCxnSpPr>
            <a:cxnSpLocks/>
          </p:cNvCxnSpPr>
          <p:nvPr/>
        </p:nvCxnSpPr>
        <p:spPr>
          <a:xfrm flipH="1">
            <a:off x="14747618" y="12997228"/>
            <a:ext cx="252000" cy="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0" name="直接连接符 379">
            <a:extLst>
              <a:ext uri="{FF2B5EF4-FFF2-40B4-BE49-F238E27FC236}">
                <a16:creationId xmlns:a16="http://schemas.microsoft.com/office/drawing/2014/main" id="{B889C24B-7036-95F7-1C1C-05FC9875D051}"/>
              </a:ext>
            </a:extLst>
          </p:cNvPr>
          <p:cNvCxnSpPr>
            <a:cxnSpLocks/>
          </p:cNvCxnSpPr>
          <p:nvPr/>
        </p:nvCxnSpPr>
        <p:spPr>
          <a:xfrm>
            <a:off x="15002253" y="12649159"/>
            <a:ext cx="616675" cy="0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dash"/>
            <a:miter lim="800000"/>
          </a:ln>
          <a:effectLst/>
        </p:spPr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AE4ADABC-9CE2-D73F-CB7B-624B0014BDDB}"/>
              </a:ext>
            </a:extLst>
          </p:cNvPr>
          <p:cNvCxnSpPr>
            <a:cxnSpLocks/>
          </p:cNvCxnSpPr>
          <p:nvPr/>
        </p:nvCxnSpPr>
        <p:spPr>
          <a:xfrm flipV="1">
            <a:off x="15618928" y="12161817"/>
            <a:ext cx="509117" cy="509117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dash"/>
            <a:miter lim="800000"/>
          </a:ln>
          <a:effectLst/>
        </p:spPr>
      </p:cxnSp>
      <p:cxnSp>
        <p:nvCxnSpPr>
          <p:cNvPr id="382" name="直接箭头连接符 381">
            <a:extLst>
              <a:ext uri="{FF2B5EF4-FFF2-40B4-BE49-F238E27FC236}">
                <a16:creationId xmlns:a16="http://schemas.microsoft.com/office/drawing/2014/main" id="{0B851BB2-F52D-C2BD-B345-9174ED2AC8D0}"/>
              </a:ext>
            </a:extLst>
          </p:cNvPr>
          <p:cNvCxnSpPr>
            <a:cxnSpLocks/>
          </p:cNvCxnSpPr>
          <p:nvPr/>
        </p:nvCxnSpPr>
        <p:spPr>
          <a:xfrm flipH="1">
            <a:off x="14747618" y="12652287"/>
            <a:ext cx="252000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2F8D6CE8-F2E4-D7EC-3B4D-BB04D3E70611}"/>
              </a:ext>
            </a:extLst>
          </p:cNvPr>
          <p:cNvCxnSpPr>
            <a:cxnSpLocks/>
          </p:cNvCxnSpPr>
          <p:nvPr/>
        </p:nvCxnSpPr>
        <p:spPr>
          <a:xfrm>
            <a:off x="15725837" y="12277997"/>
            <a:ext cx="4908" cy="630472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384" name="文本框 383">
            <a:extLst>
              <a:ext uri="{FF2B5EF4-FFF2-40B4-BE49-F238E27FC236}">
                <a16:creationId xmlns:a16="http://schemas.microsoft.com/office/drawing/2014/main" id="{1F028AA4-93E1-BE8A-D44E-B455C7BAAA80}"/>
              </a:ext>
            </a:extLst>
          </p:cNvPr>
          <p:cNvSpPr txBox="1"/>
          <p:nvPr/>
        </p:nvSpPr>
        <p:spPr>
          <a:xfrm>
            <a:off x="15873486" y="12148757"/>
            <a:ext cx="1042386" cy="5847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algn="ctr" defTabSz="914400"/>
            <a:r>
              <a:rPr lang="en-US" altLang="zh-CN" sz="16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Irrigation amount</a:t>
            </a:r>
            <a:endParaRPr lang="zh-CN" altLang="en-US" sz="1600" b="1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9184DACE-FC83-EAED-AF19-1D2BC60E2D1A}"/>
              </a:ext>
            </a:extLst>
          </p:cNvPr>
          <p:cNvCxnSpPr>
            <a:cxnSpLocks/>
          </p:cNvCxnSpPr>
          <p:nvPr/>
        </p:nvCxnSpPr>
        <p:spPr>
          <a:xfrm>
            <a:off x="15006623" y="12321100"/>
            <a:ext cx="616675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  <a:miter lim="800000"/>
          </a:ln>
          <a:effectLst/>
        </p:spPr>
      </p:cxn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16786FF1-A49C-D791-37D0-995A3741ADCD}"/>
              </a:ext>
            </a:extLst>
          </p:cNvPr>
          <p:cNvCxnSpPr>
            <a:cxnSpLocks/>
          </p:cNvCxnSpPr>
          <p:nvPr/>
        </p:nvCxnSpPr>
        <p:spPr>
          <a:xfrm flipH="1">
            <a:off x="14747618" y="12321100"/>
            <a:ext cx="252000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FAF42746-AC4F-A8B6-4C9E-66ABA3680063}"/>
              </a:ext>
            </a:extLst>
          </p:cNvPr>
          <p:cNvCxnSpPr>
            <a:cxnSpLocks/>
          </p:cNvCxnSpPr>
          <p:nvPr/>
        </p:nvCxnSpPr>
        <p:spPr>
          <a:xfrm flipV="1">
            <a:off x="15639516" y="11823752"/>
            <a:ext cx="488529" cy="499083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  <a:miter lim="800000"/>
          </a:ln>
          <a:effectLst/>
        </p:spPr>
      </p:cxnSp>
      <p:sp>
        <p:nvSpPr>
          <p:cNvPr id="389" name="文本框 388">
            <a:extLst>
              <a:ext uri="{FF2B5EF4-FFF2-40B4-BE49-F238E27FC236}">
                <a16:creationId xmlns:a16="http://schemas.microsoft.com/office/drawing/2014/main" id="{9E739C85-CCD2-4462-52D2-EA46A88BF0A9}"/>
              </a:ext>
            </a:extLst>
          </p:cNvPr>
          <p:cNvSpPr txBox="1"/>
          <p:nvPr/>
        </p:nvSpPr>
        <p:spPr>
          <a:xfrm>
            <a:off x="13747802" y="12487729"/>
            <a:ext cx="1033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endParaRPr lang="zh-CN" altLang="en-US" sz="1600" b="1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6DC09803-90B0-4584-37E1-6D33AB0579B2}"/>
              </a:ext>
            </a:extLst>
          </p:cNvPr>
          <p:cNvSpPr txBox="1"/>
          <p:nvPr/>
        </p:nvSpPr>
        <p:spPr>
          <a:xfrm>
            <a:off x="13938127" y="12831972"/>
            <a:ext cx="831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endParaRPr lang="zh-CN" altLang="en-US" sz="1600" b="1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5D36282-F0F9-4206-EA7A-C29287FCF210}"/>
              </a:ext>
            </a:extLst>
          </p:cNvPr>
          <p:cNvSpPr txBox="1"/>
          <p:nvPr/>
        </p:nvSpPr>
        <p:spPr>
          <a:xfrm>
            <a:off x="14064578" y="12133806"/>
            <a:ext cx="709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  <a:endParaRPr lang="zh-CN" altLang="en-US" sz="1600" b="1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pic>
        <p:nvPicPr>
          <p:cNvPr id="392" name="图片 391">
            <a:extLst>
              <a:ext uri="{FF2B5EF4-FFF2-40B4-BE49-F238E27FC236}">
                <a16:creationId xmlns:a16="http://schemas.microsoft.com/office/drawing/2014/main" id="{212C4641-137E-B88D-2B7F-6FB5B826CF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5136" y="10465827"/>
            <a:ext cx="475033" cy="432000"/>
          </a:xfrm>
          <a:prstGeom prst="rect">
            <a:avLst/>
          </a:prstGeom>
        </p:spPr>
      </p:pic>
      <p:pic>
        <p:nvPicPr>
          <p:cNvPr id="393" name="图片 392">
            <a:extLst>
              <a:ext uri="{FF2B5EF4-FFF2-40B4-BE49-F238E27FC236}">
                <a16:creationId xmlns:a16="http://schemas.microsoft.com/office/drawing/2014/main" id="{E75AF6FA-398F-C581-D789-9C2E7A0563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6121" y="10452186"/>
            <a:ext cx="475033" cy="432000"/>
          </a:xfrm>
          <a:prstGeom prst="rect">
            <a:avLst/>
          </a:prstGeom>
        </p:spPr>
      </p:pic>
      <p:pic>
        <p:nvPicPr>
          <p:cNvPr id="394" name="图片 393">
            <a:extLst>
              <a:ext uri="{FF2B5EF4-FFF2-40B4-BE49-F238E27FC236}">
                <a16:creationId xmlns:a16="http://schemas.microsoft.com/office/drawing/2014/main" id="{7CD9982D-81A3-95C5-0DFF-3D777184C0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4506" y="9807213"/>
            <a:ext cx="475033" cy="432000"/>
          </a:xfrm>
          <a:prstGeom prst="rect">
            <a:avLst/>
          </a:prstGeom>
        </p:spPr>
      </p:pic>
      <p:pic>
        <p:nvPicPr>
          <p:cNvPr id="395" name="图片 394">
            <a:extLst>
              <a:ext uri="{FF2B5EF4-FFF2-40B4-BE49-F238E27FC236}">
                <a16:creationId xmlns:a16="http://schemas.microsoft.com/office/drawing/2014/main" id="{7176E9EB-BD32-DBC7-69E1-CA961D499F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801" y="9807324"/>
            <a:ext cx="475033" cy="432000"/>
          </a:xfrm>
          <a:prstGeom prst="rect">
            <a:avLst/>
          </a:prstGeom>
        </p:spPr>
      </p:pic>
      <p:pic>
        <p:nvPicPr>
          <p:cNvPr id="396" name="图片 395">
            <a:extLst>
              <a:ext uri="{FF2B5EF4-FFF2-40B4-BE49-F238E27FC236}">
                <a16:creationId xmlns:a16="http://schemas.microsoft.com/office/drawing/2014/main" id="{70D360DC-0E0E-CCB3-1025-61252CA52A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2973" y="9165639"/>
            <a:ext cx="475033" cy="432000"/>
          </a:xfrm>
          <a:prstGeom prst="rect">
            <a:avLst/>
          </a:prstGeom>
        </p:spPr>
      </p:pic>
      <p:pic>
        <p:nvPicPr>
          <p:cNvPr id="397" name="图片 396">
            <a:extLst>
              <a:ext uri="{FF2B5EF4-FFF2-40B4-BE49-F238E27FC236}">
                <a16:creationId xmlns:a16="http://schemas.microsoft.com/office/drawing/2014/main" id="{C77470D2-4F4A-59D4-507B-3EF4556366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7889" y="8479081"/>
            <a:ext cx="360000" cy="406486"/>
          </a:xfrm>
          <a:prstGeom prst="rect">
            <a:avLst/>
          </a:prstGeom>
        </p:spPr>
      </p:pic>
      <p:pic>
        <p:nvPicPr>
          <p:cNvPr id="398" name="图片 397">
            <a:extLst>
              <a:ext uri="{FF2B5EF4-FFF2-40B4-BE49-F238E27FC236}">
                <a16:creationId xmlns:a16="http://schemas.microsoft.com/office/drawing/2014/main" id="{4664FB72-1752-D039-4EF4-A993400D73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2225" y="9164190"/>
            <a:ext cx="382596" cy="432000"/>
          </a:xfrm>
          <a:prstGeom prst="rect">
            <a:avLst/>
          </a:prstGeom>
        </p:spPr>
      </p:pic>
      <p:pic>
        <p:nvPicPr>
          <p:cNvPr id="399" name="图片 398">
            <a:extLst>
              <a:ext uri="{FF2B5EF4-FFF2-40B4-BE49-F238E27FC236}">
                <a16:creationId xmlns:a16="http://schemas.microsoft.com/office/drawing/2014/main" id="{31ED6C5E-DA60-DAD3-600F-056D0726A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076" y="8479081"/>
            <a:ext cx="360000" cy="406486"/>
          </a:xfrm>
          <a:prstGeom prst="rect">
            <a:avLst/>
          </a:prstGeom>
        </p:spPr>
      </p:pic>
      <p:pic>
        <p:nvPicPr>
          <p:cNvPr id="400" name="图片 399">
            <a:extLst>
              <a:ext uri="{FF2B5EF4-FFF2-40B4-BE49-F238E27FC236}">
                <a16:creationId xmlns:a16="http://schemas.microsoft.com/office/drawing/2014/main" id="{EBBA775D-CA39-6CD1-7165-1528D10321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919" y="8608862"/>
            <a:ext cx="360000" cy="406492"/>
          </a:xfrm>
          <a:prstGeom prst="rect">
            <a:avLst/>
          </a:prstGeom>
        </p:spPr>
      </p:pic>
      <p:pic>
        <p:nvPicPr>
          <p:cNvPr id="401" name="图片 400">
            <a:extLst>
              <a:ext uri="{FF2B5EF4-FFF2-40B4-BE49-F238E27FC236}">
                <a16:creationId xmlns:a16="http://schemas.microsoft.com/office/drawing/2014/main" id="{9D9A2FA3-A54C-8D45-F47A-965685FFA7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981" y="9146378"/>
            <a:ext cx="432000" cy="392863"/>
          </a:xfrm>
          <a:prstGeom prst="rect">
            <a:avLst/>
          </a:prstGeom>
        </p:spPr>
      </p:pic>
      <p:sp>
        <p:nvSpPr>
          <p:cNvPr id="402" name="文本框 401">
            <a:extLst>
              <a:ext uri="{FF2B5EF4-FFF2-40B4-BE49-F238E27FC236}">
                <a16:creationId xmlns:a16="http://schemas.microsoft.com/office/drawing/2014/main" id="{1654FCF9-4CD5-A1DE-7012-0780F2BDD2F8}"/>
              </a:ext>
            </a:extLst>
          </p:cNvPr>
          <p:cNvSpPr txBox="1"/>
          <p:nvPr/>
        </p:nvSpPr>
        <p:spPr>
          <a:xfrm>
            <a:off x="17486901" y="8683126"/>
            <a:ext cx="77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Paddy</a:t>
            </a:r>
            <a:endParaRPr lang="zh-CN" altLang="en-US" b="1" dirty="0">
              <a:solidFill>
                <a:srgbClr val="0070C0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E339B2F3-74B9-05EE-6757-66B223A07D4F}"/>
              </a:ext>
            </a:extLst>
          </p:cNvPr>
          <p:cNvSpPr txBox="1"/>
          <p:nvPr/>
        </p:nvSpPr>
        <p:spPr>
          <a:xfrm>
            <a:off x="17483862" y="9203897"/>
            <a:ext cx="124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Non-Paddy</a:t>
            </a:r>
            <a:endParaRPr lang="zh-CN" altLang="en-US" b="1" dirty="0">
              <a:solidFill>
                <a:srgbClr val="0070C0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5FCA459A-A543-C875-D459-27E3BC4E84CA}"/>
              </a:ext>
            </a:extLst>
          </p:cNvPr>
          <p:cNvCxnSpPr>
            <a:cxnSpLocks/>
          </p:cNvCxnSpPr>
          <p:nvPr/>
        </p:nvCxnSpPr>
        <p:spPr>
          <a:xfrm>
            <a:off x="13383771" y="8755181"/>
            <a:ext cx="631187" cy="2270942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DCE33B4D-D227-2B20-F22D-8B0124FF6535}"/>
              </a:ext>
            </a:extLst>
          </p:cNvPr>
          <p:cNvCxnSpPr>
            <a:cxnSpLocks/>
          </p:cNvCxnSpPr>
          <p:nvPr/>
        </p:nvCxnSpPr>
        <p:spPr>
          <a:xfrm>
            <a:off x="13383771" y="8034031"/>
            <a:ext cx="631187" cy="32160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06" name="文本框 405">
            <a:extLst>
              <a:ext uri="{FF2B5EF4-FFF2-40B4-BE49-F238E27FC236}">
                <a16:creationId xmlns:a16="http://schemas.microsoft.com/office/drawing/2014/main" id="{7FFBBCD6-55E1-44D1-AF72-21D87BEACFD2}"/>
              </a:ext>
            </a:extLst>
          </p:cNvPr>
          <p:cNvSpPr txBox="1"/>
          <p:nvPr/>
        </p:nvSpPr>
        <p:spPr>
          <a:xfrm>
            <a:off x="17126328" y="11834369"/>
            <a:ext cx="2058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24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Calculation of </a:t>
            </a:r>
          </a:p>
          <a:p>
            <a:pPr defTabSz="914400"/>
            <a:r>
              <a:rPr lang="en-US" altLang="zh-CN" sz="24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Irrigation </a:t>
            </a:r>
          </a:p>
          <a:p>
            <a:pPr defTabSz="914400"/>
            <a:r>
              <a:rPr lang="en-US" altLang="zh-CN" sz="24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Amount</a:t>
            </a:r>
            <a:endParaRPr lang="zh-CN" altLang="en-US" sz="2400" b="1" dirty="0">
              <a:solidFill>
                <a:srgbClr val="C00000"/>
              </a:solidFill>
              <a:cs typeface="Calibri" panose="020F0502020204030204" pitchFamily="34" charset="0"/>
            </a:endParaRP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69DC4625-3289-E171-2FDF-57D805CD3DB9}"/>
              </a:ext>
            </a:extLst>
          </p:cNvPr>
          <p:cNvSpPr txBox="1"/>
          <p:nvPr/>
        </p:nvSpPr>
        <p:spPr>
          <a:xfrm>
            <a:off x="15565146" y="7818690"/>
            <a:ext cx="1976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Irrigation Grid</a:t>
            </a:r>
            <a:endParaRPr lang="zh-CN" altLang="en-US" sz="2400" b="1" dirty="0">
              <a:solidFill>
                <a:srgbClr val="C00000"/>
              </a:solidFill>
              <a:cs typeface="Calibri" panose="020F0502020204030204" pitchFamily="34" charset="0"/>
            </a:endParaRPr>
          </a:p>
        </p:txBody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CC4B21D8-3467-6A08-0780-5DD59D578B02}"/>
              </a:ext>
            </a:extLst>
          </p:cNvPr>
          <p:cNvSpPr/>
          <p:nvPr/>
        </p:nvSpPr>
        <p:spPr>
          <a:xfrm>
            <a:off x="8345714" y="7687418"/>
            <a:ext cx="11041067" cy="6270190"/>
          </a:xfrm>
          <a:prstGeom prst="rect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sysClr val="window" lastClr="FFFFFF"/>
              </a:solidFill>
              <a:ea typeface="微软雅黑"/>
              <a:cs typeface="Calibri" panose="020F0502020204030204" pitchFamily="34" charset="0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99611488-73EA-9C02-CAAD-2F2205F081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663" y="8019719"/>
            <a:ext cx="4744311" cy="548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2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3210</TotalTime>
  <Words>200</Words>
  <Application>Microsoft Office PowerPoint</Application>
  <PresentationFormat>自定义</PresentationFormat>
  <Paragraphs>106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楷体</vt:lpstr>
      <vt:lpstr>微软雅黑</vt:lpstr>
      <vt:lpstr>Arial</vt:lpstr>
      <vt:lpstr>Calibri</vt:lpstr>
      <vt:lpstr>Calibri Light</vt:lpstr>
      <vt:lpstr>Times New Roman</vt:lpstr>
      <vt:lpstr>Office 2013 - 2022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Chenyuan</dc:creator>
  <cp:lastModifiedBy>Chenyuan Li</cp:lastModifiedBy>
  <cp:revision>63</cp:revision>
  <dcterms:created xsi:type="dcterms:W3CDTF">2023-02-15T07:03:58Z</dcterms:created>
  <dcterms:modified xsi:type="dcterms:W3CDTF">2026-01-26T07:00:52Z</dcterms:modified>
</cp:coreProperties>
</file>